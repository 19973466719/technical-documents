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72" r:id="rId2"/>
    <p:sldId id="279" r:id="rId3"/>
    <p:sldId id="273" r:id="rId4"/>
    <p:sldId id="274" r:id="rId5"/>
    <p:sldId id="295" r:id="rId6"/>
    <p:sldId id="288" r:id="rId7"/>
    <p:sldId id="289" r:id="rId8"/>
    <p:sldId id="290" r:id="rId9"/>
    <p:sldId id="291" r:id="rId10"/>
    <p:sldId id="282" r:id="rId11"/>
    <p:sldId id="275" r:id="rId12"/>
    <p:sldId id="293" r:id="rId13"/>
    <p:sldId id="294" r:id="rId14"/>
    <p:sldId id="284" r:id="rId15"/>
    <p:sldId id="287" r:id="rId16"/>
    <p:sldId id="296" r:id="rId17"/>
    <p:sldId id="305" r:id="rId18"/>
    <p:sldId id="298" r:id="rId19"/>
    <p:sldId id="297" r:id="rId20"/>
    <p:sldId id="304" r:id="rId21"/>
    <p:sldId id="303" r:id="rId22"/>
    <p:sldId id="302" r:id="rId23"/>
    <p:sldId id="301" r:id="rId24"/>
    <p:sldId id="285" r:id="rId25"/>
    <p:sldId id="277" r:id="rId26"/>
    <p:sldId id="299" r:id="rId27"/>
    <p:sldId id="300" r:id="rId28"/>
    <p:sldId id="286" r:id="rId29"/>
    <p:sldId id="278" r:id="rId30"/>
    <p:sldId id="306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90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93084-53C3-4D41-9C09-AF8810E82D9D}" type="datetimeFigureOut">
              <a:rPr lang="zh-CN" altLang="en-US" smtClean="0"/>
              <a:t>2019/5/14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DB04C-407A-4E30-92AE-914D18A6A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6333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52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931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1482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0925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0852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9365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3918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4027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26033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20855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11142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638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1120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083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7752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4326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52266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2271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3696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30128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85137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71756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93209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51053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7451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3394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39898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5692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47528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:a16="http://schemas.microsoft.com/office/drawing/2014/main" xmlns="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:a16="http://schemas.microsoft.com/office/drawing/2014/main" xmlns="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:a16="http://schemas.microsoft.com/office/drawing/2014/main" xmlns="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2121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58AFC1F-0EC5-49BF-9268-F0FEE4B60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xmlns="" id="{411F25FC-AA7A-420B-9A3A-84ECEF401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892DDA44-EBAA-4B0D-B1AD-17FC12E2434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9A68DBD-F8D1-4CAE-ACF1-A66E61D864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A406CACD-345F-48D9-9536-018A859493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EC1DA1-AEE0-4901-AC22-4AB8DF725C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98161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9C7DECC-98E6-4FD9-AAA2-12B4A61F9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2DFFF49D-5346-4472-B7B4-2B4B12070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3AE54C17-8281-4CEE-80BD-30C4F778807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AA5AD5C1-CA4D-49A1-9F23-7E56088191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89EA5E6E-1878-4876-87FC-34CF0D7DC1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52417" y="6483350"/>
            <a:ext cx="2844800" cy="476250"/>
          </a:xfrm>
          <a:ln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188907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D1C66AC4-7745-487C-B77E-D7209402F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F0642504-C3D3-4FEB-932D-43E15242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1FDDD93F-F324-4F9A-B9D4-6849A4C3DA3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8D17B65-E136-4CDA-8948-06EE82F4BC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D7125560-B1D6-4FEA-8C81-81F49D4763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190072-98D8-4D19-A4FD-491B38D1968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30576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35DD831-5C92-41D8-B2A4-F735B961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40589EF3-2B1D-4F74-90F9-1600D88D2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31894757-41E5-4DC3-B486-BF0D8D2E3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0B46424-4DF5-42C6-BA6D-7A5F0843E6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54C6D9C2-78B1-4830-B70B-68D245CB398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C8F0C60-8AC6-4F0E-B049-CFBBD78034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F264D2-4548-4D70-BC8F-40E2B81C91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0567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EAC2349-C79E-4DAD-A7EC-F121B92E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6577C8D4-D6FA-4BC8-982E-A569EF349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2C1BD52F-78B6-4701-9C21-05A4842E2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xmlns="" id="{41B5E117-E18D-486E-BBF0-E55E36688C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xmlns="" id="{1A6184B9-916F-4A62-BB58-A9E172116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xmlns="" id="{9BDEFA24-1BB9-4A63-BE04-B2CD6F8BC7C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xmlns="" id="{291227B2-68B3-4699-A416-5C0E6B364C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xmlns="" id="{DEC7A77C-9158-4F27-8F28-4C65512DA59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9D4226-8A00-4B13-8BD5-0BA02A062F43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66424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BC76C51-0028-4F2D-A216-4D11F5334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xmlns="" id="{91CC3BF1-A404-4E2C-8AA3-99428C6F6D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xmlns="" id="{B7D80654-FEB6-4772-9441-0475550AB2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xmlns="" id="{968FB6E6-FDEC-4041-BA77-FFA3A3FA25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31956-B08F-45CF-AAAE-D7110A88C16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5621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xmlns="" id="{6DC56CB5-95F7-41B4-8677-E12EBE1FBD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xmlns="" id="{B7F0A7C5-5870-4D46-AA35-704A0D3C86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11F62A78-2485-4514-AD6F-798D74A4E02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2DAE40-8A88-4776-8B63-952B7CED98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96186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0BD92CCA-0140-4241-AF84-A0DFC0FC9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B149F413-03E0-42C8-96F2-A26C380E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80CED1CF-0137-4B94-B04B-8FDCB7C8B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3A028F8-90C5-4894-9D68-1F454A6818E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B6B0556-8025-49EB-A9D8-E82F10331C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327CC8F1-4BD0-4FEC-AECB-DEAE8BCBA2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004D73-BC72-44E2-82FB-E17267424CA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16389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1EFFC16-3EB0-4FBB-96E7-A6D46DBE0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xmlns="" id="{5B422F93-2D7C-4C8D-98F2-E969A8987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C6BF88C8-E1D1-4529-AA38-9722474E4E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8A92ADD1-D1E1-4FA7-89F9-EAC168EC5F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AC2AA6A-2DDF-4129-A813-17A48D5D65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FAB14F8-8064-48F6-8B6D-7491835317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B6CFA7-5AB6-4D88-A282-6772FDB8DE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870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413EF4AD-90B9-4E2D-B48C-D5D41ADC0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2935463B-296C-4D20-B55D-237CE1604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1572E583-F505-4444-906F-8206A9EE7F1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59D895F1-9DF8-48A9-9C6A-3A7AC93DF3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291603C0-AEEF-495C-84B8-A97B75DBDA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98A9B0-097E-4ED5-BE94-BC7DEA00132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3973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xmlns="" id="{5C3D78EF-5EF5-478D-8576-1606D3C29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1900" y="981075"/>
            <a:ext cx="2745317" cy="51450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4DCD9F3D-20DB-4182-AD70-C533BC393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1" y="981075"/>
            <a:ext cx="8039100" cy="514508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xmlns="" id="{80FCF88E-129A-43F9-90EC-1AB558A2726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xmlns="" id="{3124BE14-18C5-46A6-8BD5-794314EF816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597D6CFD-B5D7-46E4-8617-4E9947427C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D3DD5C8-B889-4127-8E1A-DA6BA84FD0C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82753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xmlns="" id="{80EF2504-E3EA-4812-BCE9-548B5A5261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4417" y="981075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xmlns="" id="{7E888592-4D67-4FDC-8ACC-8DD192CAF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2276475"/>
            <a:ext cx="10972800" cy="3849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xmlns="" id="{40A3712E-94B2-46ED-881D-E1249EF279C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xmlns="" id="{26116D60-C064-41BB-B932-09348EA6EB7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xmlns="" id="{4E6E49BE-DB26-4C77-94F7-5228E224DF4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D0EB355C-F78B-412A-B99D-286EA36C1A2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2" name="文本框 1"/>
          <p:cNvSpPr txBox="1"/>
          <p:nvPr userDrawn="1"/>
        </p:nvSpPr>
        <p:spPr>
          <a:xfrm>
            <a:off x="4028536" y="492681"/>
            <a:ext cx="723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Networking Abstractions for </a:t>
            </a:r>
            <a:r>
              <a:rPr lang="en-US" altLang="zh-CN" baseline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Programs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6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209675"/>
            <a:ext cx="10972800" cy="1143000"/>
          </a:xfrm>
        </p:spPr>
        <p:txBody>
          <a:bodyPr/>
          <a:lstStyle/>
          <a:p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Networking Abstractions for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153" y="2806827"/>
            <a:ext cx="9863328" cy="2149221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MARK SILBERSTEIN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SANGMAN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KIM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EMMETT WITCHEL</a:t>
            </a:r>
          </a:p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Affiliate: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Technion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—Israel Institute of Technology, University of Texas at Austin</a:t>
            </a:r>
          </a:p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in: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ACM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on Computer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Systems (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TOCS’16 CCF 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 txBox="1">
            <a:spLocks/>
          </p:cNvSpPr>
          <p:nvPr/>
        </p:nvSpPr>
        <p:spPr bwMode="auto">
          <a:xfrm>
            <a:off x="7583000" y="5256212"/>
            <a:ext cx="4014217" cy="1227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Presented </a:t>
            </a:r>
            <a:r>
              <a:rPr lang="en-US" altLang="zh-CN" sz="2400" b="1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by: </a:t>
            </a:r>
            <a:r>
              <a:rPr lang="en-US" altLang="zh-CN" sz="2400" dirty="0" err="1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Junpeng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Zhu</a:t>
            </a:r>
          </a:p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Advisor: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Ji-</a:t>
            </a:r>
            <a:r>
              <a:rPr lang="en-US" altLang="zh-CN" sz="2400" dirty="0" err="1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feng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He</a:t>
            </a:r>
            <a:endParaRPr lang="en-US" altLang="zh-CN" sz="2400" dirty="0" smtClean="0">
              <a:latin typeface="Times New Roman" panose="02020603050405020304" pitchFamily="18" charset="0"/>
              <a:ea typeface="Arial Unicode MS" panose="020B0604020202020204" pitchFamily="34" charset="-122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zh-CN" sz="2400" dirty="0" smtClean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May </a:t>
            </a:r>
            <a:r>
              <a:rPr lang="en-US" altLang="zh-CN" sz="2400" dirty="0" smtClean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13, 2019</a:t>
            </a:r>
            <a:endParaRPr lang="en-US" altLang="zh-CN" sz="24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14388" y="1958220"/>
            <a:ext cx="1432684" cy="2049958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64592" y="3947277"/>
            <a:ext cx="41276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Computer Science at the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Austin as a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post-doc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programmable computational accelerators: GPU,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FPGAs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580" y="2030616"/>
            <a:ext cx="1943268" cy="190516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088892" y="4080575"/>
            <a:ext cx="36286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Storage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Computer Science at the UT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Austin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security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9356" y="1958220"/>
            <a:ext cx="1699407" cy="1989057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7659465" y="4069441"/>
            <a:ext cx="44991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 at UT Austin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Ph.D. in Electrical Engineering and Computer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Science at 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M.S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and B.S. 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Computer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Science, Stanford 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architec-ture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security,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concurrent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25408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Work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01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have become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choice for many types of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general-purpose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machine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molecular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systems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servers remains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challenging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software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to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flow of data within a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leaving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developer with only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low-level control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 I/O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1912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5958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 hardware/software Model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788969" y="2615917"/>
            <a:ext cx="11047495" cy="3794951"/>
            <a:chOff x="788969" y="2615917"/>
            <a:chExt cx="11047495" cy="3794951"/>
          </a:xfrm>
        </p:grpSpPr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8969" y="2615917"/>
              <a:ext cx="3425104" cy="3794951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293" t="22627" r="13031" b="24983"/>
            <a:stretch/>
          </p:blipFill>
          <p:spPr>
            <a:xfrm>
              <a:off x="4733700" y="2615917"/>
              <a:ext cx="7102764" cy="3592947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7656945" y="3713018"/>
              <a:ext cx="15517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PCI Express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7960761" y="4095194"/>
              <a:ext cx="8045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DMA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7098209" y="1998195"/>
            <a:ext cx="2373745" cy="2184994"/>
            <a:chOff x="7098209" y="1998195"/>
            <a:chExt cx="2373745" cy="2184994"/>
          </a:xfrm>
        </p:grpSpPr>
        <p:sp>
          <p:nvSpPr>
            <p:cNvPr id="8" name="圆角矩形 7"/>
            <p:cNvSpPr/>
            <p:nvPr/>
          </p:nvSpPr>
          <p:spPr>
            <a:xfrm>
              <a:off x="7098209" y="1998195"/>
              <a:ext cx="2373745" cy="1182254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Avoid to send data to a CPU or system memory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/>
            <p:cNvCxnSpPr/>
            <p:nvPr/>
          </p:nvCxnSpPr>
          <p:spPr>
            <a:xfrm flipH="1" flipV="1">
              <a:off x="8137236" y="3220047"/>
              <a:ext cx="147845" cy="9631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5</a:t>
            </a:fld>
            <a:endParaRPr lang="en-US" altLang="zh-CN" dirty="0"/>
          </a:p>
        </p:txBody>
      </p:sp>
      <p:sp>
        <p:nvSpPr>
          <p:cNvPr id="9" name="云形 8"/>
          <p:cNvSpPr/>
          <p:nvPr/>
        </p:nvSpPr>
        <p:spPr>
          <a:xfrm>
            <a:off x="2443980" y="2133526"/>
            <a:ext cx="7333673" cy="4160989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5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 endpoint is not same to the GPU endpoint. </a:t>
            </a:r>
            <a:endParaRPr lang="zh-CN" altLang="en-US" sz="5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9891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Bad news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certain classes of applications that could benefit from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GPU’s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computational density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unacceptable development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realize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their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full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hardware architecture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matured to support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general-purpose parallel workloads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software stack has hardly evolved beyond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bare-metal interfaces (E.g. memory transfer via DMA)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30947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Without core  I/O abstractions like sockets available to GPU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programs that access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coordinate low-level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machine-specific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details (DMA)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among a CPU, GPU,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a NIC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article introduces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native GPU networking layer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provides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socket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high-level networking APIs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GPU programs</a:t>
            </a: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1491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0947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18566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enables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individual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threads in one GPU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communicate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threads in other GPUs or CPUs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via standard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familiar socket interfaces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regardless of whether they are in the same </a:t>
            </a:r>
            <a:r>
              <a:rPr lang="en-US" altLang="zh-CN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 different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designed to foster GPU adoption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two broad classes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high-throughput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Network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back-end data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scale-out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distributed computing systems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85087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0947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18566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essential characteristics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efficient network abstractions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discrete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GPUs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challenging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massive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parallelism,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slow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to CPU memory,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low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single-thread performance.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 supports sockets for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network communications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InfiniBand RDMA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supports </a:t>
            </a:r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interprocess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communication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machine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(often called UNIX-domain sockets)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88882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1313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18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Problems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of GPUs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network servers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distributed systems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poses significant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list of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popular general-purpose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applications recently published by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NVIDIA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 no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GPU-accelerated network services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GPUs in distributed applications results in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impressive speedups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significant development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efforts [2016]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GPU-native networking support does not yet exist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98929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936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41758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Enjoying the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P2P DMA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however, requires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intimate knowledge of hardware-specific APIs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characteristics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such as the underlying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topology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issues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turning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development into a low-level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 programming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task.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CPU operating systems provide high-level I/O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abstractions like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sockets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eliminate or hide this type of programming complexity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ordinary application developers.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67956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936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579" y="1780019"/>
            <a:ext cx="10415016" cy="4740853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Consider an internal data center network service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on-demand face-in-a-crowd photo labeling.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algorithm detects faces in the input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image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(GPU),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descriptors,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concurrency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multistage pipelining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network buffer management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fetches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name label for each descriptor from a remote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database,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the location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name of each recognized face in the image.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74289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4484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Sockets and Alternatives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interface uses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sockets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standard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general, familiar,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convenient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RDMA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is usually performed via VERBs API, and is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use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quite u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ncommon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other networking applications, such as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network servers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aims to support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broad range of server-side network services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32711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5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Network Server Organization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199" y="2767276"/>
            <a:ext cx="7026249" cy="3551228"/>
          </a:xfrm>
          <a:prstGeom prst="rect">
            <a:avLst/>
          </a:prstGeom>
        </p:spPr>
      </p:pic>
      <p:grpSp>
        <p:nvGrpSpPr>
          <p:cNvPr id="9" name="组合 8"/>
          <p:cNvGrpSpPr/>
          <p:nvPr/>
        </p:nvGrpSpPr>
        <p:grpSpPr>
          <a:xfrm>
            <a:off x="199854" y="2669309"/>
            <a:ext cx="4279782" cy="3094182"/>
            <a:chOff x="199854" y="2669309"/>
            <a:chExt cx="4279782" cy="3094182"/>
          </a:xfrm>
        </p:grpSpPr>
        <p:sp>
          <p:nvSpPr>
            <p:cNvPr id="4" name="圆角矩形 3"/>
            <p:cNvSpPr/>
            <p:nvPr/>
          </p:nvSpPr>
          <p:spPr>
            <a:xfrm>
              <a:off x="2641600" y="2669309"/>
              <a:ext cx="1838036" cy="3094182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圆角矩形 4"/>
            <p:cNvSpPr/>
            <p:nvPr/>
          </p:nvSpPr>
          <p:spPr>
            <a:xfrm>
              <a:off x="199854" y="3403599"/>
              <a:ext cx="2164655" cy="1625601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Daemo</a:t>
              </a:r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thread accepts </a:t>
              </a:r>
              <a:r>
                <a:rPr lang="en-US" altLang="zh-CN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connetions</a:t>
              </a:r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and transfer the socket to worker threads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7" name="直接箭头连接符 6"/>
            <p:cNvCxnSpPr>
              <a:endCxn id="5" idx="3"/>
            </p:cNvCxnSpPr>
            <p:nvPr/>
          </p:nvCxnSpPr>
          <p:spPr>
            <a:xfrm flipH="1">
              <a:off x="2364509" y="4110183"/>
              <a:ext cx="277091" cy="10621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合 13"/>
          <p:cNvGrpSpPr/>
          <p:nvPr/>
        </p:nvGrpSpPr>
        <p:grpSpPr>
          <a:xfrm>
            <a:off x="4536437" y="1109091"/>
            <a:ext cx="7655563" cy="4654399"/>
            <a:chOff x="4536437" y="1109091"/>
            <a:chExt cx="7655563" cy="4654399"/>
          </a:xfrm>
        </p:grpSpPr>
        <p:sp>
          <p:nvSpPr>
            <p:cNvPr id="11" name="圆角矩形 10"/>
            <p:cNvSpPr/>
            <p:nvPr/>
          </p:nvSpPr>
          <p:spPr>
            <a:xfrm>
              <a:off x="4536437" y="2669308"/>
              <a:ext cx="2405339" cy="3094182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8720172" y="1109091"/>
              <a:ext cx="3471828" cy="157159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All inputs are read on the CPU first and transferred to the GPU across a </a:t>
              </a:r>
              <a:r>
                <a:rPr lang="en-US" altLang="zh-CN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PCIe</a:t>
              </a:r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bus. It is needed to batch of work to amortize CPU-GPU communications overhead.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接箭头连接符 12"/>
            <p:cNvCxnSpPr/>
            <p:nvPr/>
          </p:nvCxnSpPr>
          <p:spPr>
            <a:xfrm flipV="1">
              <a:off x="6799008" y="2155946"/>
              <a:ext cx="1921164" cy="5151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组合 18"/>
          <p:cNvGrpSpPr/>
          <p:nvPr/>
        </p:nvGrpSpPr>
        <p:grpSpPr>
          <a:xfrm>
            <a:off x="7167495" y="2669308"/>
            <a:ext cx="4950614" cy="3094182"/>
            <a:chOff x="7167495" y="2669308"/>
            <a:chExt cx="4950614" cy="3094182"/>
          </a:xfrm>
        </p:grpSpPr>
        <p:sp>
          <p:nvSpPr>
            <p:cNvPr id="16" name="圆角矩形 15"/>
            <p:cNvSpPr/>
            <p:nvPr/>
          </p:nvSpPr>
          <p:spPr>
            <a:xfrm>
              <a:off x="7167495" y="2669308"/>
              <a:ext cx="2041160" cy="3094182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圆角矩形 16"/>
            <p:cNvSpPr/>
            <p:nvPr/>
          </p:nvSpPr>
          <p:spPr>
            <a:xfrm>
              <a:off x="9542714" y="3131416"/>
              <a:ext cx="2575395" cy="198008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Daemon architecture: It </a:t>
              </a:r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is our hope that this model will make the computational</a:t>
              </a:r>
            </a:p>
            <a:p>
              <a:pPr algn="ctr"/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power of GPUs more easily accessible to networked </a:t>
              </a:r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services.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直接箭头连接符 17"/>
            <p:cNvCxnSpPr>
              <a:endCxn id="17" idx="1"/>
            </p:cNvCxnSpPr>
            <p:nvPr/>
          </p:nvCxnSpPr>
          <p:spPr>
            <a:xfrm>
              <a:off x="9216921" y="3994071"/>
              <a:ext cx="325793" cy="1273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灯片编号占位符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65500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17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 Architecture of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daemon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lvl="2"/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makes it possible for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servers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multiple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independent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having to batch them first (far right in Figure 2), much like multitasking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multicore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Independent architecture</a:t>
            </a:r>
          </a:p>
          <a:p>
            <a:pPr lvl="2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also possible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have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where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threadblock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acts as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independent 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accepting, computing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responding to requests.</a:t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4439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521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586" t="4972" r="2438" b="10655"/>
          <a:stretch/>
        </p:blipFill>
        <p:spPr>
          <a:xfrm>
            <a:off x="1597402" y="2523744"/>
            <a:ext cx="9026829" cy="3419856"/>
          </a:xfrm>
          <a:prstGeom prst="rect">
            <a:avLst/>
          </a:prstGeom>
        </p:spPr>
      </p:pic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19</a:t>
            </a:fld>
            <a:endParaRPr lang="en-US" altLang="zh-CN" dirty="0"/>
          </a:p>
        </p:txBody>
      </p:sp>
      <p:grpSp>
        <p:nvGrpSpPr>
          <p:cNvPr id="8" name="组合 7"/>
          <p:cNvGrpSpPr/>
          <p:nvPr/>
        </p:nvGrpSpPr>
        <p:grpSpPr>
          <a:xfrm>
            <a:off x="8377512" y="4270248"/>
            <a:ext cx="3219705" cy="2148840"/>
            <a:chOff x="8377512" y="4270248"/>
            <a:chExt cx="3219705" cy="2148840"/>
          </a:xfrm>
        </p:grpSpPr>
        <p:sp>
          <p:nvSpPr>
            <p:cNvPr id="2" name="圆角矩形 1"/>
            <p:cNvSpPr/>
            <p:nvPr/>
          </p:nvSpPr>
          <p:spPr>
            <a:xfrm>
              <a:off x="8513064" y="4270248"/>
              <a:ext cx="1801368" cy="740664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箭头连接符 4"/>
            <p:cNvCxnSpPr/>
            <p:nvPr/>
          </p:nvCxnSpPr>
          <p:spPr>
            <a:xfrm>
              <a:off x="9326880" y="5010912"/>
              <a:ext cx="164592" cy="548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圆角矩形 5"/>
            <p:cNvSpPr/>
            <p:nvPr/>
          </p:nvSpPr>
          <p:spPr>
            <a:xfrm>
              <a:off x="8377512" y="5559552"/>
              <a:ext cx="3219705" cy="859536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</a:rPr>
                <a:t>Network Buffer: </a:t>
              </a:r>
              <a:r>
                <a:rPr lang="en-US" altLang="zh-CN" dirty="0" err="1" smtClean="0">
                  <a:solidFill>
                    <a:srgbClr val="FF0000"/>
                  </a:solidFill>
                </a:rPr>
                <a:t>GPUnet</a:t>
              </a:r>
              <a:r>
                <a:rPr lang="en-US" altLang="zh-CN" dirty="0" smtClean="0">
                  <a:solidFill>
                    <a:srgbClr val="FF0000"/>
                  </a:solidFill>
                </a:rPr>
                <a:t> stores network buffers in GPU memory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组合 11"/>
          <p:cNvGrpSpPr/>
          <p:nvPr/>
        </p:nvGrpSpPr>
        <p:grpSpPr>
          <a:xfrm>
            <a:off x="6711696" y="1536192"/>
            <a:ext cx="4974336" cy="2734056"/>
            <a:chOff x="6711696" y="1536192"/>
            <a:chExt cx="4974336" cy="2734056"/>
          </a:xfrm>
        </p:grpSpPr>
        <p:sp>
          <p:nvSpPr>
            <p:cNvPr id="3" name="圆角矩形 2"/>
            <p:cNvSpPr/>
            <p:nvPr/>
          </p:nvSpPr>
          <p:spPr>
            <a:xfrm>
              <a:off x="6711696" y="3511296"/>
              <a:ext cx="3383280" cy="75895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8377512" y="1536192"/>
              <a:ext cx="3308520" cy="603504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Standard socket abstraction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接箭头连接符 10"/>
            <p:cNvCxnSpPr/>
            <p:nvPr/>
          </p:nvCxnSpPr>
          <p:spPr>
            <a:xfrm flipV="1">
              <a:off x="8961120" y="2187829"/>
              <a:ext cx="365760" cy="125920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云形 13"/>
          <p:cNvSpPr/>
          <p:nvPr/>
        </p:nvSpPr>
        <p:spPr>
          <a:xfrm>
            <a:off x="2420889" y="2583623"/>
            <a:ext cx="7379854" cy="281071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enables: (1) GPU programs can access the network via standard socket abstractions provided by the </a:t>
            </a:r>
            <a:r>
              <a:rPr lang="en-US" altLang="zh-CN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library. (2) CPU applications may use standard sockets to connect to remote GPU sockets. (3) </a:t>
            </a:r>
            <a:r>
              <a:rPr lang="en-US" altLang="zh-CN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sz="2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sz="2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endpoint has identical capabilities as a CPU network endpoint.</a:t>
            </a:r>
            <a:endParaRPr lang="zh-CN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225118" y="4233672"/>
            <a:ext cx="5436773" cy="1755648"/>
            <a:chOff x="225118" y="4233672"/>
            <a:chExt cx="5436773" cy="1755648"/>
          </a:xfrm>
        </p:grpSpPr>
        <p:sp>
          <p:nvSpPr>
            <p:cNvPr id="15" name="圆角矩形 14"/>
            <p:cNvSpPr/>
            <p:nvPr/>
          </p:nvSpPr>
          <p:spPr>
            <a:xfrm>
              <a:off x="3740727" y="4233672"/>
              <a:ext cx="1921164" cy="712978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圆角矩形 15"/>
            <p:cNvSpPr/>
            <p:nvPr/>
          </p:nvSpPr>
          <p:spPr>
            <a:xfrm>
              <a:off x="225118" y="5375217"/>
              <a:ext cx="4901064" cy="614103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I/O proxy coordinate GPU access to the NIC.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直接箭头连接符 17"/>
            <p:cNvCxnSpPr/>
            <p:nvPr/>
          </p:nvCxnSpPr>
          <p:spPr>
            <a:xfrm flipH="1">
              <a:off x="3334327" y="5010912"/>
              <a:ext cx="646546" cy="33858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云形 19"/>
          <p:cNvSpPr/>
          <p:nvPr/>
        </p:nvSpPr>
        <p:spPr>
          <a:xfrm>
            <a:off x="3549246" y="2266107"/>
            <a:ext cx="5558178" cy="3210837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Therefore, CPU and GPU enable all to share the NIC hardware, allowing concurrent use of a NIC by both CPU and GPU programs.</a:t>
            </a:r>
            <a:endParaRPr lang="zh-CN" altLang="en-US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392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1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20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difference of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processing model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altLang="zh-C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 and GPU</a:t>
            </a:r>
          </a:p>
          <a:p>
            <a:pPr lvl="1"/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requires applications 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invoke its API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granularity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threadblock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 threads in a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threadblock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invoke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same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call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together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a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coalesced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manner</a:t>
            </a:r>
          </a:p>
          <a:p>
            <a:pPr lvl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traditional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 network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is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 threaded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—that is,</a:t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thread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make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independent API calls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receive independent results. </a:t>
            </a:r>
            <a:r>
              <a:rPr lang="en-US" altLang="zh-CN" dirty="0"/>
              <a:t/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564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21</a:t>
            </a:fld>
            <a:endParaRPr lang="en-US" altLang="zh-CN" dirty="0"/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Two proposal in </a:t>
            </a:r>
            <a:r>
              <a:rPr lang="en-US" altLang="zh-C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level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1985818" y="3380509"/>
            <a:ext cx="2803236" cy="2486753"/>
            <a:chOff x="1985818" y="3380509"/>
            <a:chExt cx="2803236" cy="2486753"/>
          </a:xfrm>
        </p:grpSpPr>
        <p:sp>
          <p:nvSpPr>
            <p:cNvPr id="3" name="圆角矩形 2"/>
            <p:cNvSpPr/>
            <p:nvPr/>
          </p:nvSpPr>
          <p:spPr>
            <a:xfrm>
              <a:off x="1985818" y="3380509"/>
              <a:ext cx="1117600" cy="145010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CPU+</a:t>
              </a:r>
            </a:p>
            <a:p>
              <a:pPr algn="ctr"/>
              <a:r>
                <a:rPr lang="en-US" altLang="zh-CN" sz="2000" b="1" dirty="0" smtClean="0">
                  <a:solidFill>
                    <a:srgbClr val="FF000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Memory</a:t>
              </a:r>
              <a:endParaRPr lang="zh-CN" altLang="en-US" sz="2000" b="1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3671454" y="3380509"/>
              <a:ext cx="1117600" cy="145010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GPU+</a:t>
              </a:r>
            </a:p>
            <a:p>
              <a:pPr algn="ctr"/>
              <a:r>
                <a:rPr lang="en-US" altLang="zh-CN" sz="2000" b="1" dirty="0" smtClean="0">
                  <a:solidFill>
                    <a:srgbClr val="FF000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Memory</a:t>
              </a:r>
              <a:endParaRPr lang="zh-CN" altLang="en-US" sz="2000" b="1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5" name="丁字箭头 4"/>
            <p:cNvSpPr/>
            <p:nvPr/>
          </p:nvSpPr>
          <p:spPr>
            <a:xfrm rot="10800000">
              <a:off x="2544618" y="4988863"/>
              <a:ext cx="1593273" cy="489527"/>
            </a:xfrm>
            <a:prstGeom prst="leftRight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3066474" y="5497930"/>
              <a:ext cx="734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smtClean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NIC</a:t>
              </a:r>
              <a:endParaRPr lang="zh-CN" alt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7350799" y="3280678"/>
            <a:ext cx="2803236" cy="1862207"/>
            <a:chOff x="6442363" y="3384048"/>
            <a:chExt cx="2803236" cy="1862207"/>
          </a:xfrm>
        </p:grpSpPr>
        <p:sp>
          <p:nvSpPr>
            <p:cNvPr id="12" name="圆角矩形 11"/>
            <p:cNvSpPr/>
            <p:nvPr/>
          </p:nvSpPr>
          <p:spPr>
            <a:xfrm>
              <a:off x="6442363" y="3384048"/>
              <a:ext cx="1117600" cy="145010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CP</a:t>
              </a:r>
              <a:r>
                <a:rPr lang="en-US" altLang="zh-CN" sz="2000" b="1" dirty="0">
                  <a:solidFill>
                    <a:srgbClr val="FF0000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U</a:t>
              </a:r>
              <a:endParaRPr lang="zh-CN" altLang="en-US" sz="2000" b="1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" name="圆角矩形 12"/>
            <p:cNvSpPr/>
            <p:nvPr/>
          </p:nvSpPr>
          <p:spPr>
            <a:xfrm>
              <a:off x="8127999" y="3384048"/>
              <a:ext cx="1117600" cy="145010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</a:t>
              </a:r>
              <a:endParaRPr lang="zh-CN" altLang="en-US" sz="2000" b="1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1" name="圆角矩形 10"/>
            <p:cNvSpPr/>
            <p:nvPr/>
          </p:nvSpPr>
          <p:spPr>
            <a:xfrm>
              <a:off x="6534727" y="4830618"/>
              <a:ext cx="2632364" cy="415637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Memory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" name="直接连接符 14"/>
          <p:cNvCxnSpPr/>
          <p:nvPr/>
        </p:nvCxnSpPr>
        <p:spPr>
          <a:xfrm>
            <a:off x="6129290" y="3001818"/>
            <a:ext cx="0" cy="2496112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39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22</a:t>
            </a:fld>
            <a:endParaRPr lang="en-US" altLang="zh-CN" dirty="0"/>
          </a:p>
        </p:txBody>
      </p:sp>
      <p:pic>
        <p:nvPicPr>
          <p:cNvPr id="9" name="内容占位符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17641" y="3147704"/>
            <a:ext cx="9586352" cy="3187888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317641" y="2105891"/>
            <a:ext cx="55726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 Exchange Example</a:t>
            </a:r>
            <a:endParaRPr lang="zh-CN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857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74573"/>
          </a:xfrm>
        </p:spPr>
        <p:txBody>
          <a:bodyPr/>
          <a:lstStyle/>
          <a:p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23</a:t>
            </a:fld>
            <a:endParaRPr lang="en-US" altLang="zh-CN" dirty="0"/>
          </a:p>
        </p:txBody>
      </p:sp>
      <p:pic>
        <p:nvPicPr>
          <p:cNvPr id="3" name="内容占位符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72705" y="2613406"/>
            <a:ext cx="8765328" cy="3508629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335024" y="1883664"/>
            <a:ext cx="8037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Network Stack</a:t>
            </a:r>
            <a:endParaRPr lang="zh-CN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3474720" y="1883664"/>
            <a:ext cx="8549640" cy="2029968"/>
            <a:chOff x="3255264" y="1883664"/>
            <a:chExt cx="8549640" cy="2029968"/>
          </a:xfrm>
        </p:grpSpPr>
        <p:sp>
          <p:nvSpPr>
            <p:cNvPr id="6" name="圆角矩形 5"/>
            <p:cNvSpPr/>
            <p:nvPr/>
          </p:nvSpPr>
          <p:spPr>
            <a:xfrm>
              <a:off x="3255264" y="3410712"/>
              <a:ext cx="5277697" cy="50292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8851392" y="1883664"/>
              <a:ext cx="2953512" cy="729742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Tasks Pipeline</a:t>
              </a:r>
              <a:endParaRPr lang="zh-CN" altLang="en-US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/>
            <p:cNvCxnSpPr/>
            <p:nvPr/>
          </p:nvCxnSpPr>
          <p:spPr>
            <a:xfrm flipV="1">
              <a:off x="8374295" y="2468439"/>
              <a:ext cx="477097" cy="942273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0291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2445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Settings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25</a:t>
            </a:fld>
            <a:endParaRPr lang="en-US" altLang="zh-CN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3"/>
          <a:srcRect l="3212" t="7495" r="1631" b="2635"/>
          <a:stretch/>
        </p:blipFill>
        <p:spPr>
          <a:xfrm>
            <a:off x="1621944" y="2733963"/>
            <a:ext cx="8977746" cy="2595419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3521060" y="5531555"/>
            <a:ext cx="5000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 machines use CUDA 5.5.</a:t>
            </a:r>
            <a:endParaRPr lang="zh-CN" altLang="en-US"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27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Matrix Product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26</a:t>
            </a:fld>
            <a:endParaRPr lang="en-US" altLang="zh-CN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072" y="2738831"/>
            <a:ext cx="3438253" cy="3333428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288" y="2720347"/>
            <a:ext cx="3497580" cy="337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464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Matrix Product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27</a:t>
            </a:fld>
            <a:endParaRPr lang="en-US" altLang="zh-CN" dirty="0"/>
          </a:p>
        </p:txBody>
      </p:sp>
      <p:grpSp>
        <p:nvGrpSpPr>
          <p:cNvPr id="9" name="组合 8"/>
          <p:cNvGrpSpPr/>
          <p:nvPr/>
        </p:nvGrpSpPr>
        <p:grpSpPr>
          <a:xfrm>
            <a:off x="2427269" y="2820019"/>
            <a:ext cx="6325148" cy="3284505"/>
            <a:chOff x="2427269" y="2820019"/>
            <a:chExt cx="6325148" cy="3284505"/>
          </a:xfrm>
        </p:grpSpPr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7269" y="2820019"/>
              <a:ext cx="6325148" cy="3284505"/>
            </a:xfrm>
            <a:prstGeom prst="rect">
              <a:avLst/>
            </a:prstGeom>
          </p:spPr>
        </p:pic>
        <p:sp>
          <p:nvSpPr>
            <p:cNvPr id="8" name="圆角矩形 7"/>
            <p:cNvSpPr/>
            <p:nvPr/>
          </p:nvSpPr>
          <p:spPr>
            <a:xfrm>
              <a:off x="5907024" y="2820019"/>
              <a:ext cx="2606040" cy="75895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256</a:t>
              </a:r>
              <a:r>
                <a:rPr lang="zh-CN" altLang="en-US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*</a:t>
              </a:r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256 Matrices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2123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Design Considerations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Design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0060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Work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system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provide native networking abstractions for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evelopments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hardware and software stack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help to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boost </a:t>
            </a:r>
            <a:r>
              <a:rPr lang="en-US" altLang="zh-CN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broaden its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NVIDIA GPUs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boost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GPUnet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4978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:a16="http://schemas.microsoft.com/office/drawing/2014/main" xmlns="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 &amp; Future Work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415016" cy="427062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system enhancements continue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trend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toward more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flexible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versatile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efficient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GPU-accelerated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where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GPUs have more control over their I/O operations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underscoring the importance of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GPU-native high-level OS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abstractions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presented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this article for future GPUs.</a:t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57802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1015</TotalTime>
  <Words>1299</Words>
  <Application>Microsoft Office PowerPoint</Application>
  <PresentationFormat>宽屏</PresentationFormat>
  <Paragraphs>231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8" baseType="lpstr">
      <vt:lpstr>Arial Unicode MS</vt:lpstr>
      <vt:lpstr>等线</vt:lpstr>
      <vt:lpstr>楷体</vt:lpstr>
      <vt:lpstr>宋体</vt:lpstr>
      <vt:lpstr>微软雅黑</vt:lpstr>
      <vt:lpstr>Arial</vt:lpstr>
      <vt:lpstr>Times New Roman</vt:lpstr>
      <vt:lpstr>默认设计模板</vt:lpstr>
      <vt:lpstr>GPUnet: Networking Abstractions for  GPU Programs</vt:lpstr>
      <vt:lpstr>Authors</vt:lpstr>
      <vt:lpstr>OUTLINE</vt:lpstr>
      <vt:lpstr>Introduction</vt:lpstr>
      <vt:lpstr>Introduction</vt:lpstr>
      <vt:lpstr>Introduction</vt:lpstr>
      <vt:lpstr>Introduction</vt:lpstr>
      <vt:lpstr>Introduction</vt:lpstr>
      <vt:lpstr>Introduction</vt:lpstr>
      <vt:lpstr>OUTLINE</vt:lpstr>
      <vt:lpstr>Motivation &amp; Example</vt:lpstr>
      <vt:lpstr>Motivation &amp; Example</vt:lpstr>
      <vt:lpstr>Motivation &amp; Example</vt:lpstr>
      <vt:lpstr>OUTLINE</vt:lpstr>
      <vt:lpstr>Design Considerations</vt:lpstr>
      <vt:lpstr>Design Considerations</vt:lpstr>
      <vt:lpstr>Design Considerations</vt:lpstr>
      <vt:lpstr>OUTLINE</vt:lpstr>
      <vt:lpstr>GPUnet Design</vt:lpstr>
      <vt:lpstr>GPUnet Design</vt:lpstr>
      <vt:lpstr>GPUnet Design</vt:lpstr>
      <vt:lpstr>GPUnet Design</vt:lpstr>
      <vt:lpstr>GPUnet Design</vt:lpstr>
      <vt:lpstr>OUTLINE</vt:lpstr>
      <vt:lpstr>Experiments &amp; Evaluation</vt:lpstr>
      <vt:lpstr>Experiments &amp; Evaluation</vt:lpstr>
      <vt:lpstr>Experiments &amp; Evaluation</vt:lpstr>
      <vt:lpstr>OUTLINE</vt:lpstr>
      <vt:lpstr>Conclusions &amp; Future Work</vt:lpstr>
      <vt:lpstr>Conclusions &amp; Future Work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liushuai</dc:creator>
  <cp:lastModifiedBy>朱君鹏</cp:lastModifiedBy>
  <cp:revision>171</cp:revision>
  <dcterms:created xsi:type="dcterms:W3CDTF">2018-07-12T13:40:09Z</dcterms:created>
  <dcterms:modified xsi:type="dcterms:W3CDTF">2019-05-14T08:17:01Z</dcterms:modified>
</cp:coreProperties>
</file>