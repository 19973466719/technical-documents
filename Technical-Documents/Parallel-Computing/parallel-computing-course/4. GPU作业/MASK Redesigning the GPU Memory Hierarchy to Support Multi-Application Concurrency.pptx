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72" r:id="rId2"/>
    <p:sldId id="279" r:id="rId3"/>
    <p:sldId id="273" r:id="rId4"/>
    <p:sldId id="309" r:id="rId5"/>
    <p:sldId id="334" r:id="rId6"/>
    <p:sldId id="311" r:id="rId7"/>
    <p:sldId id="331" r:id="rId8"/>
    <p:sldId id="332" r:id="rId9"/>
    <p:sldId id="298" r:id="rId10"/>
    <p:sldId id="304" r:id="rId11"/>
    <p:sldId id="335" r:id="rId12"/>
    <p:sldId id="336" r:id="rId13"/>
    <p:sldId id="337" r:id="rId14"/>
    <p:sldId id="285" r:id="rId15"/>
    <p:sldId id="319" r:id="rId16"/>
    <p:sldId id="338" r:id="rId17"/>
    <p:sldId id="339" r:id="rId18"/>
    <p:sldId id="317" r:id="rId19"/>
    <p:sldId id="324" r:id="rId20"/>
    <p:sldId id="340" r:id="rId21"/>
    <p:sldId id="342" r:id="rId22"/>
    <p:sldId id="343" r:id="rId23"/>
    <p:sldId id="344" r:id="rId24"/>
    <p:sldId id="341" r:id="rId25"/>
    <p:sldId id="345" r:id="rId26"/>
    <p:sldId id="286" r:id="rId27"/>
    <p:sldId id="278" r:id="rId28"/>
    <p:sldId id="333" r:id="rId29"/>
    <p:sldId id="318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0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93084-53C3-4D41-9C09-AF8810E82D9D}" type="datetimeFigureOut">
              <a:rPr lang="zh-CN" altLang="en-US" smtClean="0"/>
              <a:t>2019/5/1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DB04C-407A-4E30-92AE-914D18A6A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333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endParaRPr lang="en-US" altLang="zh-CN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52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931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482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084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6116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422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6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1127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227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012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4457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595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2915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51053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741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3133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06965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5866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81157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84256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09220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27175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2840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8691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7200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6922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 smtClean="0"/>
              <a:t>Our evaluations show that MASK restores much of the throughput lost to TLB contention. Relative to a state-of-the-art GPU TLB, MASK improves system throughput by 57.8%, improves IPC throughput by 43.4%, and reduces </a:t>
            </a:r>
            <a:r>
              <a:rPr lang="en-US" altLang="zh-CN" dirty="0" err="1" smtClean="0"/>
              <a:t>applicationlevel</a:t>
            </a:r>
            <a:r>
              <a:rPr lang="en-US" altLang="zh-CN" dirty="0" smtClean="0"/>
              <a:t> unfairness by 22.4%. MASK’s system throughput is within 23.2% of an ideal GPU system with no address translation overhead.</a:t>
            </a: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7528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87401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2958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58AFC1F-0EC5-49BF-9268-F0FEE4B60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411F25FC-AA7A-420B-9A3A-84ECEF401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92DDA44-EBAA-4B0D-B1AD-17FC12E243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9A68DBD-F8D1-4CAE-ACF1-A66E61D864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A406CACD-345F-48D9-9536-018A859493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C1DA1-AEE0-4901-AC22-4AB8DF725C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8161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9C7DECC-98E6-4FD9-AAA2-12B4A61F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2DFFF49D-5346-4472-B7B4-2B4B12070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3AE54C17-8281-4CEE-80BD-30C4F77880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AA5AD5C1-CA4D-49A1-9F23-7E56088191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89EA5E6E-1878-4876-87FC-34CF0D7DC1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52417" y="6483350"/>
            <a:ext cx="2844800" cy="476250"/>
          </a:xfrm>
          <a:ln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88907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66AC4-7745-487C-B77E-D7209402F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F0642504-C3D3-4FEB-932D-43E152422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FDDD93F-F324-4F9A-B9D4-6849A4C3DA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8D17B65-E136-4CDA-8948-06EE82F4BC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D7125560-B1D6-4FEA-8C81-81F49D4763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190072-98D8-4D19-A4FD-491B38D196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057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35DD831-5C92-41D8-B2A4-F735B961D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40589EF3-2B1D-4F74-90F9-1600D88D2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276475"/>
            <a:ext cx="5384800" cy="38496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31894757-41E5-4DC3-B486-BF0D8D2E3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2276475"/>
            <a:ext cx="5384800" cy="38496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0B46424-4DF5-42C6-BA6D-7A5F0843E6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4C6D9C2-78B1-4830-B70B-68D245CB39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C8F0C60-8AC6-4F0E-B049-CFBBD78034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F264D2-4548-4D70-BC8F-40E2B81C91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056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EAC2349-C79E-4DAD-A7EC-F121B92E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577C8D4-D6FA-4BC8-982E-A569EF349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2C1BD52F-78B6-4701-9C21-05A4842E2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41B5E117-E18D-486E-BBF0-E55E36688C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1A6184B9-916F-4A62-BB58-A9E172116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9BDEFA24-1BB9-4A63-BE04-B2CD6F8BC7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291227B2-68B3-4699-A416-5C0E6B364C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DEC7A77C-9158-4F27-8F28-4C65512DA5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D4226-8A00-4B13-8BD5-0BA02A062F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42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BC76C51-0028-4F2D-A216-4D11F533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91CC3BF1-A404-4E2C-8AA3-99428C6F6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B7D80654-FEB6-4772-9441-0475550AB2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968FB6E6-FDEC-4041-BA77-FFA3A3FA25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731956-B08F-45CF-AAAE-D7110A88C1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621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6DC56CB5-95F7-41B4-8677-E12EBE1FB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B7F0A7C5-5870-4D46-AA35-704A0D3C86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11F62A78-2485-4514-AD6F-798D74A4E0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DAE40-8A88-4776-8B63-952B7CED98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618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BD92CCA-0140-4241-AF84-A0DFC0FC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B149F413-03E0-42C8-96F2-A26C380EC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80CED1CF-0137-4B94-B04B-8FDCB7C8B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3A028F8-90C5-4894-9D68-1F454A6818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B6B0556-8025-49EB-A9D8-E82F10331C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27CC8F1-4BD0-4FEC-AECB-DEAE8BCBA2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04D73-BC72-44E2-82FB-E17267424C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638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1EFFC16-3EB0-4FBB-96E7-A6D46DBE0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5B422F93-2D7C-4C8D-98F2-E969A8987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C6BF88C8-E1D1-4529-AA38-9722474E4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A92ADD1-D1E1-4FA7-89F9-EAC168EC5F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AC2AA6A-2DDF-4129-A813-17A48D5D65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FAB14F8-8064-48F6-8B6D-7491835317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B6CFA7-5AB6-4D88-A282-6772FDB8DE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870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13EF4AD-90B9-4E2D-B48C-D5D41ADC0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2935463B-296C-4D20-B55D-237CE1604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572E583-F505-4444-906F-8206A9EE7F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9D895F1-9DF8-48A9-9C6A-3A7AC93DF3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291603C0-AEEF-495C-84B8-A97B75DBDA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8A9B0-097E-4ED5-BE94-BC7DEA0013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9731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5C3D78EF-5EF5-478D-8576-1606D3C29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1900" y="981075"/>
            <a:ext cx="2745317" cy="51450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4DCD9F3D-20DB-4182-AD70-C533BC393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1" y="981075"/>
            <a:ext cx="8039100" cy="51450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0FCF88E-129A-43F9-90EC-1AB558A272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3124BE14-18C5-46A6-8BD5-794314EF81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597D6CFD-B5D7-46E4-8617-4E9947427C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DD5C8-B889-4127-8E1A-DA6BA84FD0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275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80EF2504-E3EA-4812-BCE9-548B5A526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981075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7E888592-4D67-4FDC-8ACC-8DD192CAF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2276475"/>
            <a:ext cx="10972800" cy="384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40A3712E-94B2-46ED-881D-E1249EF279C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xmlns="" id="{26116D60-C064-41BB-B932-09348EA6EB7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xmlns="" id="{4E6E49BE-DB26-4C77-94F7-5228E224DF4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0EB355C-F78B-412A-B99D-286EA36C1A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文本框 1"/>
          <p:cNvSpPr txBox="1"/>
          <p:nvPr userDrawn="1"/>
        </p:nvSpPr>
        <p:spPr>
          <a:xfrm>
            <a:off x="4814702" y="182344"/>
            <a:ext cx="5025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MASK:</a:t>
            </a:r>
            <a:r>
              <a:rPr lang="en-US" altLang="zh-CN" baseline="0" dirty="0" smtClean="0">
                <a:solidFill>
                  <a:schemeClr val="bg1"/>
                </a:solidFill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</a:rPr>
              <a:t>Redesigning the GPU Memory Hierarchy</a:t>
            </a:r>
          </a:p>
          <a:p>
            <a:r>
              <a:rPr lang="en-US" altLang="zh-CN" dirty="0" smtClean="0">
                <a:solidFill>
                  <a:schemeClr val="bg1"/>
                </a:solidFill>
              </a:rPr>
              <a:t>to Support Multi-Application</a:t>
            </a:r>
            <a:r>
              <a:rPr lang="en-US" altLang="zh-CN" baseline="0" dirty="0" smtClean="0">
                <a:solidFill>
                  <a:schemeClr val="bg1"/>
                </a:solidFill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</a:rPr>
              <a:t>Concurrency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67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253" y="1032325"/>
            <a:ext cx="11103126" cy="1710274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MASK: Redesigning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GPU Memory Hierarchy to Support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Multi-Application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92" y="3007248"/>
            <a:ext cx="11481847" cy="169251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Rachata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Ausavarungnirun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 err="1"/>
              <a:t>Saugata</a:t>
            </a:r>
            <a:r>
              <a:rPr lang="en-US" altLang="zh-CN" sz="2400" dirty="0"/>
              <a:t> </a:t>
            </a:r>
            <a:r>
              <a:rPr lang="en-US" altLang="zh-CN" sz="2400" dirty="0" err="1"/>
              <a:t>Ghose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Adwait</a:t>
            </a:r>
            <a:r>
              <a:rPr lang="en-US" altLang="zh-CN" sz="2400" dirty="0"/>
              <a:t> Jog, </a:t>
            </a:r>
            <a:r>
              <a:rPr lang="en-US" altLang="zh-CN" sz="2400" dirty="0" err="1"/>
              <a:t>Onur</a:t>
            </a:r>
            <a:r>
              <a:rPr lang="en-US" altLang="zh-CN" sz="2400" dirty="0"/>
              <a:t> </a:t>
            </a:r>
            <a:r>
              <a:rPr lang="en-US" altLang="zh-CN" sz="2400" dirty="0" err="1"/>
              <a:t>Mutlu</a:t>
            </a:r>
            <a:r>
              <a:rPr lang="en-US" altLang="zh-CN" sz="2400" dirty="0"/>
              <a:t> </a:t>
            </a:r>
          </a:p>
          <a:p>
            <a:pPr marL="0" indent="0"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Affiliate: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Carnegie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Mellon University, University of Texas at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Austin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ETH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Zürich</a:t>
            </a:r>
          </a:p>
          <a:p>
            <a:pPr marL="0" indent="0"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in: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Architectural Support for 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Operating Systems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ASPLOS’18 CCF A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 txBox="1">
            <a:spLocks/>
          </p:cNvSpPr>
          <p:nvPr/>
        </p:nvSpPr>
        <p:spPr bwMode="auto">
          <a:xfrm>
            <a:off x="7583000" y="4832606"/>
            <a:ext cx="4014217" cy="1518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400" b="1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Presented </a:t>
            </a:r>
            <a:r>
              <a:rPr lang="en-US" altLang="zh-CN" sz="2400" b="1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by: </a:t>
            </a:r>
            <a:r>
              <a:rPr lang="en-US" altLang="zh-CN" sz="2400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Junpeng Zhu    </a:t>
            </a:r>
            <a:r>
              <a:rPr lang="zh-CN" altLang="en-US" sz="2400" b="1" dirty="0" smtClean="0">
                <a:latin typeface="+mn-ea"/>
                <a:cs typeface="Times New Roman" panose="02020603050405020304" pitchFamily="18" charset="0"/>
              </a:rPr>
              <a:t>（朱君鹏）</a:t>
            </a:r>
            <a:endParaRPr lang="en-US" altLang="zh-CN" sz="2400" b="1" dirty="0" smtClean="0">
              <a:latin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sz="2400" b="1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Advisor:</a:t>
            </a:r>
            <a:r>
              <a:rPr lang="en-US" altLang="zh-CN" sz="2400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Yin Qian</a:t>
            </a:r>
          </a:p>
          <a:p>
            <a:pPr>
              <a:spcBef>
                <a:spcPct val="0"/>
              </a:spcBef>
            </a:pP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May 5, 2019</a:t>
            </a: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70085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328" y="4006939"/>
            <a:ext cx="412767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Researcher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Ph.D., M.S. and B.S.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degrees from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Carnegie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Mellon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Interests: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of GPUs in the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 CPU-GPU architectures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97998" y="4006939"/>
            <a:ext cx="37612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scientist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CMU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Ph.D. and M.S. Cornel University, B.S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Binghamton University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and storage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System-level architectural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interactions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973049" y="4006939"/>
            <a:ext cx="42189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in CMU and </a:t>
            </a:r>
            <a:r>
              <a:rPr lang="en-US" altLang="zh-CN" dirty="0"/>
              <a:t>ETH </a:t>
            </a:r>
            <a:r>
              <a:rPr lang="en-US" altLang="zh-CN" dirty="0" smtClean="0"/>
              <a:t>Zürich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Educations: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Ph.D. , M.S. UT Austin, B.S. University of Michigan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security, and bioinformatics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53088" y="2002123"/>
            <a:ext cx="1962150" cy="1962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747" y="2002123"/>
            <a:ext cx="2142578" cy="1962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6403" y="2002123"/>
            <a:ext cx="1644624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0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/>
              <a:t>Methodology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016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3871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Graphics Processing Units (GPUs) exploit large amounts of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thread-level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parallelism to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high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throughput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efficiently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 long-latency stalls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from diﬀerent domains can have vastly diﬀerent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 and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demands on the GPU. 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applications can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a single GPU, akin to how multiple applications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execute concurrently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CPU.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392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3871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GPU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hundreds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threads concurrently, where the threads are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grouped into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warps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GPU executes each warp in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lockstep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., each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in the warp executes the same instruction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concurrently,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SIMD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one or more threads of a warp stall, the GPU hides the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latency of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stall by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another warp.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059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Multi-application concurrency requires several support mechanisms in both hardware and software.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the CPU, </a:t>
            </a:r>
            <a:r>
              <a:rPr lang="en-US" altLang="zh-CN" dirty="0"/>
              <a:t>One </a:t>
            </a:r>
            <a:r>
              <a:rPr lang="en-US" altLang="zh-CN" dirty="0" smtClean="0"/>
              <a:t>such key </a:t>
            </a:r>
            <a:r>
              <a:rPr lang="en-US" altLang="zh-CN" dirty="0"/>
              <a:t>mechanism is </a:t>
            </a:r>
            <a:r>
              <a:rPr lang="en-US" altLang="zh-CN" i="1" dirty="0"/>
              <a:t>virtual memory</a:t>
            </a:r>
            <a:r>
              <a:rPr lang="en-US" altLang="zh-CN" dirty="0"/>
              <a:t>, which manages and </a:t>
            </a:r>
            <a:r>
              <a:rPr lang="en-US" altLang="zh-CN" dirty="0" smtClean="0"/>
              <a:t>protects the </a:t>
            </a:r>
            <a:r>
              <a:rPr lang="en-US" altLang="zh-CN" dirty="0"/>
              <a:t>address space of each application. 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modern GPUs </a:t>
            </a:r>
            <a:r>
              <a:rPr lang="en-US" altLang="zh-CN" dirty="0" smtClean="0"/>
              <a:t>lack the </a:t>
            </a:r>
            <a:r>
              <a:rPr lang="en-US" altLang="zh-CN" dirty="0"/>
              <a:t>extensive support for multi-application concurrency </a:t>
            </a:r>
            <a:r>
              <a:rPr lang="en-US" altLang="zh-CN" dirty="0" smtClean="0"/>
              <a:t>available in CPUs.</a:t>
            </a:r>
          </a:p>
          <a:p>
            <a:pPr marL="1338263" lvl="2" indent="-423863">
              <a:buFont typeface="Wingdings" panose="05000000000000000000" pitchFamily="2" charset="2"/>
              <a:buChar char="p"/>
            </a:pPr>
            <a:r>
              <a:rPr lang="en-US" altLang="zh-CN" dirty="0" smtClean="0"/>
              <a:t>as </a:t>
            </a:r>
            <a:r>
              <a:rPr lang="en-US" altLang="zh-CN" dirty="0"/>
              <a:t>a result suﬀer from high performance </a:t>
            </a:r>
            <a:r>
              <a:rPr lang="en-US" altLang="zh-CN" dirty="0" smtClean="0"/>
              <a:t>overheads when </a:t>
            </a:r>
            <a:r>
              <a:rPr lang="en-US" altLang="zh-CN" dirty="0"/>
              <a:t>shared by multiple applications</a:t>
            </a:r>
            <a:br>
              <a:rPr lang="en-US" altLang="zh-CN" dirty="0"/>
            </a:b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  <p:sp>
        <p:nvSpPr>
          <p:cNvPr id="2" name="云形 1"/>
          <p:cNvSpPr/>
          <p:nvPr/>
        </p:nvSpPr>
        <p:spPr>
          <a:xfrm>
            <a:off x="1889590" y="2285951"/>
            <a:ext cx="8263467" cy="395268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solidFill>
                  <a:schemeClr val="tx1"/>
                </a:solidFill>
              </a:rPr>
              <a:t>In this paper, the key result is that </a:t>
            </a:r>
            <a:r>
              <a:rPr lang="en-US" altLang="zh-CN" sz="3200" dirty="0">
                <a:solidFill>
                  <a:schemeClr val="tx1"/>
                </a:solidFill>
              </a:rPr>
              <a:t>that the </a:t>
            </a:r>
            <a:r>
              <a:rPr lang="en-US" altLang="zh-CN" sz="3200" dirty="0">
                <a:solidFill>
                  <a:srgbClr val="FF0000"/>
                </a:solidFill>
              </a:rPr>
              <a:t>poor performance </a:t>
            </a:r>
            <a:r>
              <a:rPr lang="en-US" altLang="zh-CN" sz="3200" dirty="0">
                <a:solidFill>
                  <a:schemeClr val="tx1"/>
                </a:solidFill>
              </a:rPr>
              <a:t>is largely </a:t>
            </a:r>
            <a:r>
              <a:rPr lang="en-US" altLang="zh-CN" sz="3200" dirty="0">
                <a:solidFill>
                  <a:srgbClr val="FF0000"/>
                </a:solidFill>
              </a:rPr>
              <a:t>a result of the virtual memory mechanisms</a:t>
            </a:r>
            <a:r>
              <a:rPr lang="en-US" altLang="zh-CN" sz="3200" dirty="0">
                <a:solidFill>
                  <a:schemeClr val="tx1"/>
                </a:solidFill>
              </a:rPr>
              <a:t> employed in </a:t>
            </a:r>
            <a:r>
              <a:rPr lang="en-US" altLang="zh-CN" sz="3200" dirty="0">
                <a:solidFill>
                  <a:srgbClr val="00B050"/>
                </a:solidFill>
              </a:rPr>
              <a:t>modern GPUs</a:t>
            </a:r>
            <a:r>
              <a:rPr lang="en-US" altLang="zh-CN" sz="3200" dirty="0">
                <a:solidFill>
                  <a:schemeClr val="tx1"/>
                </a:solidFill>
              </a:rPr>
              <a:t>. </a:t>
            </a:r>
            <a:br>
              <a:rPr lang="en-US" altLang="zh-CN" sz="3200" dirty="0">
                <a:solidFill>
                  <a:schemeClr val="tx1"/>
                </a:solidFill>
              </a:rPr>
            </a:br>
            <a:r>
              <a:rPr lang="en-US" altLang="zh-CN" sz="3200" dirty="0" smtClean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37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/>
              <a:t>Poor address </a:t>
            </a:r>
            <a:r>
              <a:rPr lang="en-US" altLang="zh-CN" dirty="0"/>
              <a:t>translation performance is a key obstacle to </a:t>
            </a:r>
            <a:r>
              <a:rPr lang="en-US" altLang="zh-CN" dirty="0" smtClean="0"/>
              <a:t>efficient GPU sharing</a:t>
            </a:r>
            <a:r>
              <a:rPr lang="en-US" altLang="zh-CN" dirty="0"/>
              <a:t>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 For single-application execution, </a:t>
            </a:r>
            <a:r>
              <a:rPr lang="en-US" altLang="zh-CN" dirty="0"/>
              <a:t>State-of-the-art address translation mechanisms </a:t>
            </a:r>
            <a:r>
              <a:rPr lang="en-US" altLang="zh-CN" dirty="0" smtClean="0"/>
              <a:t>were designed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For </a:t>
            </a:r>
            <a:r>
              <a:rPr lang="en-US" altLang="zh-CN" dirty="0"/>
              <a:t>multiple applications spatially share the </a:t>
            </a:r>
            <a:r>
              <a:rPr lang="en-US" altLang="zh-CN" dirty="0" smtClean="0"/>
              <a:t>GPU, it exists </a:t>
            </a:r>
            <a:r>
              <a:rPr lang="en-US" altLang="zh-CN" i="1" dirty="0"/>
              <a:t>inter-application interference</a:t>
            </a:r>
            <a:r>
              <a:rPr lang="en-US" altLang="zh-CN" dirty="0"/>
              <a:t> 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This contention leads to frequent misses </a:t>
            </a:r>
            <a:r>
              <a:rPr lang="en-US" altLang="zh-CN" dirty="0" smtClean="0"/>
              <a:t>in the shared translation lookaside buﬀer (</a:t>
            </a:r>
            <a:r>
              <a:rPr lang="en-US" altLang="zh-CN" dirty="0" smtClean="0">
                <a:solidFill>
                  <a:srgbClr val="FF0000"/>
                </a:solidFill>
              </a:rPr>
              <a:t>TLB</a:t>
            </a:r>
            <a:r>
              <a:rPr lang="en-US" altLang="zh-CN" dirty="0" smtClean="0"/>
              <a:t>), where a single miss can </a:t>
            </a:r>
            <a:r>
              <a:rPr lang="en-US" altLang="zh-CN" dirty="0"/>
              <a:t>induce long-latency stalls for hundreds of threads. </a:t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  <p:sp>
        <p:nvSpPr>
          <p:cNvPr id="4" name="云形 3"/>
          <p:cNvSpPr/>
          <p:nvPr/>
        </p:nvSpPr>
        <p:spPr>
          <a:xfrm>
            <a:off x="1736132" y="2289560"/>
            <a:ext cx="8570383" cy="394546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chemeClr val="tx1"/>
                </a:solidFill>
              </a:rPr>
              <a:t>As a result</a:t>
            </a:r>
            <a:r>
              <a:rPr lang="en-US" altLang="zh-CN" sz="2800" dirty="0">
                <a:solidFill>
                  <a:schemeClr val="tx1"/>
                </a:solidFill>
              </a:rPr>
              <a:t>, the GPU often cannot schedule enough threads to successfully hide</a:t>
            </a:r>
          </a:p>
          <a:p>
            <a:pPr algn="ctr"/>
            <a:r>
              <a:rPr lang="en-US" altLang="zh-CN" sz="2800" dirty="0">
                <a:solidFill>
                  <a:schemeClr val="tx1"/>
                </a:solidFill>
              </a:rPr>
              <a:t>the stalls, which diminishes system throughput and becomes a</a:t>
            </a:r>
          </a:p>
          <a:p>
            <a:pPr algn="ctr"/>
            <a:r>
              <a:rPr lang="en-US" altLang="zh-CN" sz="2800" dirty="0" smtClean="0">
                <a:solidFill>
                  <a:schemeClr val="tx1"/>
                </a:solidFill>
              </a:rPr>
              <a:t>first-order </a:t>
            </a:r>
            <a:r>
              <a:rPr lang="en-US" altLang="zh-CN" sz="2800" dirty="0">
                <a:solidFill>
                  <a:schemeClr val="tx1"/>
                </a:solidFill>
              </a:rPr>
              <a:t>performance concern.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71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3871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the above analysis, the propose MASK, 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GPU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that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low-overhead virtual memory support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concurrent execution of multiple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b="1" dirty="0" smtClean="0"/>
              <a:t>The </a:t>
            </a:r>
            <a:r>
              <a:rPr lang="en-US" altLang="zh-CN" b="1" dirty="0"/>
              <a:t>goal </a:t>
            </a:r>
            <a:r>
              <a:rPr lang="en-US" altLang="zh-CN" dirty="0" smtClean="0"/>
              <a:t>in this </a:t>
            </a:r>
            <a:r>
              <a:rPr lang="en-US" altLang="zh-CN" dirty="0"/>
              <a:t>work is to develop new techniques that can alleviate the </a:t>
            </a:r>
            <a:r>
              <a:rPr lang="en-US" altLang="zh-CN" dirty="0" smtClean="0"/>
              <a:t>severe address </a:t>
            </a:r>
            <a:r>
              <a:rPr lang="en-US" altLang="zh-CN" dirty="0"/>
              <a:t>translation bottleneck in state-of-the-art GPUs 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b="1" dirty="0"/>
              <a:t>M</a:t>
            </a:r>
            <a:r>
              <a:rPr lang="en-US" altLang="zh-CN" dirty="0"/>
              <a:t>ulti-</a:t>
            </a:r>
            <a:r>
              <a:rPr lang="en-US" altLang="zh-CN" b="1" dirty="0"/>
              <a:t>A</a:t>
            </a:r>
            <a:r>
              <a:rPr lang="en-US" altLang="zh-CN" dirty="0"/>
              <a:t>ddress </a:t>
            </a:r>
            <a:r>
              <a:rPr lang="en-US" altLang="zh-CN" b="1" dirty="0"/>
              <a:t>S</a:t>
            </a:r>
            <a:r>
              <a:rPr lang="en-US" altLang="zh-CN" dirty="0"/>
              <a:t>pace </a:t>
            </a:r>
            <a:r>
              <a:rPr lang="en-US" altLang="zh-CN" dirty="0" smtClean="0"/>
              <a:t>Concurrent </a:t>
            </a:r>
            <a:r>
              <a:rPr lang="en-US" altLang="zh-CN" b="1" dirty="0" smtClean="0"/>
              <a:t>K</a:t>
            </a:r>
            <a:r>
              <a:rPr lang="en-US" altLang="zh-CN" dirty="0" smtClean="0"/>
              <a:t>ernels  (MASK)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2079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/>
              <a:t>Methodology</a:t>
            </a:r>
            <a:endParaRPr lang="en-US" altLang="zh-CN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216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 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6"/>
            <a:ext cx="10972800" cy="4289053"/>
          </a:xfrm>
        </p:spPr>
        <p:txBody>
          <a:bodyPr/>
          <a:lstStyle/>
          <a:p>
            <a:r>
              <a:rPr lang="en-US" altLang="zh-CN" dirty="0"/>
              <a:t>MASK is a framework </a:t>
            </a:r>
            <a:r>
              <a:rPr lang="en-US" altLang="zh-CN" dirty="0" smtClean="0"/>
              <a:t>that provides </a:t>
            </a:r>
            <a:r>
              <a:rPr lang="en-US" altLang="zh-CN" dirty="0">
                <a:solidFill>
                  <a:srgbClr val="FF0000"/>
                </a:solidFill>
              </a:rPr>
              <a:t>memory protection </a:t>
            </a:r>
            <a:r>
              <a:rPr lang="en-US" altLang="zh-CN" dirty="0"/>
              <a:t>support and employs </a:t>
            </a:r>
            <a:r>
              <a:rPr lang="en-US" altLang="zh-CN" dirty="0">
                <a:solidFill>
                  <a:srgbClr val="FF0000"/>
                </a:solidFill>
              </a:rPr>
              <a:t>three mechanisms </a:t>
            </a:r>
            <a:r>
              <a:rPr lang="en-US" altLang="zh-CN" dirty="0"/>
              <a:t>in the memory hierarchy to reduce address translation </a:t>
            </a:r>
            <a:r>
              <a:rPr lang="en-US" altLang="zh-CN" dirty="0" smtClean="0"/>
              <a:t>overheads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b="1" dirty="0"/>
              <a:t>TLB-Fill Tokens </a:t>
            </a:r>
            <a:r>
              <a:rPr lang="en-US" altLang="zh-CN" dirty="0"/>
              <a:t>regulate </a:t>
            </a:r>
            <a:r>
              <a:rPr lang="en-US" altLang="zh-CN" dirty="0" smtClean="0"/>
              <a:t>the number </a:t>
            </a:r>
            <a:r>
              <a:rPr lang="en-US" altLang="zh-CN" dirty="0"/>
              <a:t>of warps that can </a:t>
            </a:r>
            <a:r>
              <a:rPr lang="en-US" altLang="zh-CN" dirty="0" smtClean="0"/>
              <a:t>fill </a:t>
            </a:r>
            <a:r>
              <a:rPr lang="en-US" altLang="zh-CN" dirty="0"/>
              <a:t>(i.e., insert entries) into the </a:t>
            </a:r>
            <a:r>
              <a:rPr lang="en-US" altLang="zh-CN" dirty="0" smtClean="0"/>
              <a:t>shared TLB </a:t>
            </a:r>
            <a:r>
              <a:rPr lang="en-US" altLang="zh-CN" dirty="0"/>
              <a:t>in order to reduce TLB </a:t>
            </a:r>
            <a:r>
              <a:rPr lang="en-US" altLang="zh-CN" dirty="0" smtClean="0"/>
              <a:t>thrashing</a:t>
            </a:r>
          </a:p>
          <a:p>
            <a:pPr lvl="1"/>
            <a:r>
              <a:rPr lang="en-US" altLang="zh-CN" b="1" dirty="0"/>
              <a:t>Address-Translation-Aware L2 Bypass </a:t>
            </a:r>
            <a:r>
              <a:rPr lang="en-US" altLang="zh-CN" dirty="0"/>
              <a:t>mechanism </a:t>
            </a:r>
            <a:r>
              <a:rPr lang="en-US" altLang="zh-CN" dirty="0" smtClean="0"/>
              <a:t>significantly </a:t>
            </a:r>
            <a:r>
              <a:rPr lang="en-US" altLang="zh-CN" dirty="0"/>
              <a:t>increases the shared L2 data cache </a:t>
            </a:r>
            <a:r>
              <a:rPr lang="en-US" altLang="zh-CN" dirty="0" smtClean="0"/>
              <a:t>utilization</a:t>
            </a:r>
          </a:p>
          <a:p>
            <a:pPr lvl="1"/>
            <a:r>
              <a:rPr lang="en-US" altLang="zh-CN" b="1" dirty="0"/>
              <a:t>Address-Space-Aware DRAM Scheduler </a:t>
            </a:r>
            <a:r>
              <a:rPr lang="en-US" altLang="zh-CN" dirty="0" smtClean="0"/>
              <a:t>reduces </a:t>
            </a:r>
            <a:r>
              <a:rPr lang="en-US" altLang="zh-CN" dirty="0"/>
              <a:t>interference between address translation requests and data </a:t>
            </a:r>
            <a:r>
              <a:rPr lang="en-US" altLang="zh-CN" dirty="0" smtClean="0"/>
              <a:t>demand requests</a:t>
            </a:r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56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 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6"/>
            <a:ext cx="10972800" cy="428905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09" y="2667369"/>
            <a:ext cx="10130015" cy="334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83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 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6"/>
            <a:ext cx="10972800" cy="4289053"/>
          </a:xfrm>
        </p:spPr>
        <p:txBody>
          <a:bodyPr/>
          <a:lstStyle/>
          <a:p>
            <a:r>
              <a:rPr lang="en-US" altLang="zh-CN" dirty="0" smtClean="0"/>
              <a:t>MASK provides </a:t>
            </a:r>
            <a:r>
              <a:rPr lang="en-US" altLang="zh-CN" dirty="0"/>
              <a:t>memory protection by allowing diﬀerent GPU cores </a:t>
            </a:r>
            <a:r>
              <a:rPr lang="en-US" altLang="zh-CN" dirty="0" smtClean="0"/>
              <a:t>to be </a:t>
            </a:r>
            <a:r>
              <a:rPr lang="en-US" altLang="zh-CN" dirty="0"/>
              <a:t>assigned to diﬀerent address </a:t>
            </a:r>
            <a:r>
              <a:rPr lang="en-US" altLang="zh-CN" dirty="0" smtClean="0"/>
              <a:t>spaces</a:t>
            </a:r>
          </a:p>
          <a:p>
            <a:r>
              <a:rPr lang="en-US" altLang="zh-CN" b="1" dirty="0"/>
              <a:t>MASK uses per-core </a:t>
            </a:r>
            <a:r>
              <a:rPr lang="en-US" altLang="zh-CN" b="1" dirty="0" smtClean="0"/>
              <a:t>page table </a:t>
            </a:r>
            <a:r>
              <a:rPr lang="en-US" altLang="zh-CN" b="1" dirty="0"/>
              <a:t>root registers </a:t>
            </a:r>
            <a:r>
              <a:rPr lang="en-US" altLang="zh-CN" dirty="0"/>
              <a:t>(similar to the CR3 register in x86 </a:t>
            </a:r>
            <a:r>
              <a:rPr lang="en-US" altLang="zh-CN" dirty="0" smtClean="0"/>
              <a:t>systems</a:t>
            </a:r>
            <a:r>
              <a:rPr lang="en-US" altLang="zh-CN" dirty="0"/>
              <a:t>)</a:t>
            </a:r>
            <a:r>
              <a:rPr lang="en-US" altLang="zh-CN" dirty="0" smtClean="0"/>
              <a:t> to </a:t>
            </a:r>
            <a:r>
              <a:rPr lang="en-US" altLang="zh-CN" dirty="0"/>
              <a:t>set the current address space on each core. </a:t>
            </a:r>
            <a:endParaRPr lang="en-US" altLang="zh-CN" dirty="0" smtClean="0"/>
          </a:p>
          <a:p>
            <a:r>
              <a:rPr lang="en-US" altLang="zh-CN" b="1" dirty="0"/>
              <a:t>The page table </a:t>
            </a:r>
            <a:r>
              <a:rPr lang="en-US" altLang="zh-CN" b="1" dirty="0" smtClean="0"/>
              <a:t>root register </a:t>
            </a:r>
            <a:r>
              <a:rPr lang="en-US" altLang="zh-CN" b="1" dirty="0"/>
              <a:t>value </a:t>
            </a:r>
            <a:r>
              <a:rPr lang="en-US" altLang="zh-CN" dirty="0"/>
              <a:t>from each GPU core is also stored in a </a:t>
            </a:r>
            <a:r>
              <a:rPr lang="en-US" altLang="zh-CN" b="1" dirty="0"/>
              <a:t>page table </a:t>
            </a:r>
            <a:r>
              <a:rPr lang="en-US" altLang="zh-CN" b="1" dirty="0" smtClean="0"/>
              <a:t>root cache </a:t>
            </a:r>
            <a:r>
              <a:rPr lang="en-US" altLang="zh-CN" dirty="0"/>
              <a:t>for use by the </a:t>
            </a:r>
            <a:r>
              <a:rPr lang="en-US" altLang="zh-CN" b="1" dirty="0"/>
              <a:t>page table walker</a:t>
            </a:r>
            <a:r>
              <a:rPr lang="en-US" altLang="zh-CN" dirty="0"/>
              <a:t>. </a:t>
            </a:r>
            <a:br>
              <a:rPr lang="en-US" altLang="zh-CN" dirty="0"/>
            </a:b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84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 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6"/>
            <a:ext cx="10972800" cy="4289053"/>
          </a:xfrm>
        </p:spPr>
        <p:txBody>
          <a:bodyPr/>
          <a:lstStyle/>
          <a:p>
            <a:r>
              <a:rPr lang="en-US" altLang="zh-CN" dirty="0"/>
              <a:t>MASK </a:t>
            </a:r>
            <a:r>
              <a:rPr lang="en-US" altLang="zh-CN" dirty="0" smtClean="0"/>
              <a:t>with a </a:t>
            </a:r>
            <a:r>
              <a:rPr lang="en-US" altLang="zh-CN" dirty="0"/>
              <a:t>new mechanism called TLB-Fill </a:t>
            </a:r>
            <a:r>
              <a:rPr lang="en-US" altLang="zh-CN" dirty="0" smtClean="0"/>
              <a:t>Tokens</a:t>
            </a:r>
          </a:p>
          <a:p>
            <a:pPr lvl="1"/>
            <a:r>
              <a:rPr lang="en-US" altLang="zh-CN" dirty="0"/>
              <a:t>To reduce inter-address-space interference at the shared L2 </a:t>
            </a:r>
            <a:r>
              <a:rPr lang="en-US" altLang="zh-CN" dirty="0" smtClean="0"/>
              <a:t>TLB</a:t>
            </a:r>
          </a:p>
          <a:p>
            <a:pPr lvl="1"/>
            <a:r>
              <a:rPr lang="en-US" altLang="zh-CN" dirty="0" smtClean="0"/>
              <a:t>MASK use an </a:t>
            </a:r>
            <a:r>
              <a:rPr lang="en-US" altLang="zh-CN" b="1" dirty="0"/>
              <a:t>epoch- and token-based </a:t>
            </a:r>
            <a:r>
              <a:rPr lang="en-US" altLang="zh-CN" dirty="0"/>
              <a:t>scheme to limit the number of </a:t>
            </a:r>
            <a:r>
              <a:rPr lang="en-US" altLang="zh-CN" dirty="0" smtClean="0"/>
              <a:t>warps from </a:t>
            </a:r>
            <a:r>
              <a:rPr lang="en-US" altLang="zh-CN" dirty="0"/>
              <a:t>each GPU core that can </a:t>
            </a:r>
            <a:r>
              <a:rPr lang="en-US" altLang="zh-CN" dirty="0" smtClean="0"/>
              <a:t>fill </a:t>
            </a:r>
            <a:r>
              <a:rPr lang="en-US" altLang="zh-CN" dirty="0"/>
              <a:t>(and therefore contend for) the </a:t>
            </a:r>
            <a:r>
              <a:rPr lang="en-US" altLang="zh-CN" dirty="0" smtClean="0"/>
              <a:t>L2 TLB</a:t>
            </a:r>
            <a:r>
              <a:rPr lang="en-US" altLang="zh-CN" dirty="0"/>
              <a:t>. While every warp can probe the shared L2 TLB, only </a:t>
            </a:r>
            <a:r>
              <a:rPr lang="en-US" altLang="zh-CN" dirty="0" smtClean="0"/>
              <a:t>warps with </a:t>
            </a:r>
            <a:r>
              <a:rPr lang="en-US" altLang="zh-CN" dirty="0"/>
              <a:t>tokens can </a:t>
            </a:r>
            <a:r>
              <a:rPr lang="en-US" altLang="zh-CN" dirty="0" smtClean="0"/>
              <a:t>fill </a:t>
            </a:r>
            <a:r>
              <a:rPr lang="en-US" altLang="zh-CN" dirty="0"/>
              <a:t>the shared L2 </a:t>
            </a:r>
            <a:r>
              <a:rPr lang="en-US" altLang="zh-CN" dirty="0" smtClean="0"/>
              <a:t>TLB</a:t>
            </a:r>
          </a:p>
          <a:p>
            <a:r>
              <a:rPr lang="en-US" altLang="zh-CN" i="1"/>
              <a:t>MASK </a:t>
            </a:r>
            <a:r>
              <a:rPr lang="en-US" altLang="zh-CN"/>
              <a:t>uses </a:t>
            </a:r>
            <a:r>
              <a:rPr lang="en-US" altLang="zh-CN" i="1"/>
              <a:t>TLB-Fill Tokens </a:t>
            </a:r>
            <a:r>
              <a:rPr lang="en-US" altLang="zh-CN"/>
              <a:t>to reduce thrashing</a:t>
            </a:r>
          </a:p>
          <a:p>
            <a:pPr marL="0" indent="0">
              <a:buNone/>
            </a:pPr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852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/>
              <a:t>Methodology</a:t>
            </a:r>
            <a:endParaRPr lang="en-US" altLang="zh-CN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445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dirty="0"/>
              <a:t>To evaluate MASK, </a:t>
            </a:r>
            <a:r>
              <a:rPr lang="en-US" altLang="zh-CN" dirty="0" smtClean="0"/>
              <a:t>It models </a:t>
            </a:r>
            <a:r>
              <a:rPr lang="en-US" altLang="zh-CN" dirty="0"/>
              <a:t>the NVIDIA Maxwell </a:t>
            </a:r>
            <a:r>
              <a:rPr lang="en-US" altLang="zh-CN" dirty="0" smtClean="0"/>
              <a:t>architecture, </a:t>
            </a:r>
            <a:r>
              <a:rPr lang="en-US" altLang="zh-CN" dirty="0"/>
              <a:t>and the </a:t>
            </a:r>
            <a:r>
              <a:rPr lang="en-US" altLang="zh-CN" dirty="0" smtClean="0"/>
              <a:t>TLB-fill </a:t>
            </a:r>
            <a:r>
              <a:rPr lang="en-US" altLang="zh-CN" dirty="0"/>
              <a:t>bypassing, cache bypassing, and </a:t>
            </a:r>
            <a:r>
              <a:rPr lang="en-US" altLang="zh-CN" dirty="0" smtClean="0"/>
              <a:t>memory scheduling </a:t>
            </a:r>
            <a:r>
              <a:rPr lang="en-US" altLang="zh-CN" dirty="0"/>
              <a:t>mechanisms in MASK, using the Mosaic </a:t>
            </a:r>
            <a:r>
              <a:rPr lang="en-US" altLang="zh-CN" dirty="0" smtClean="0"/>
              <a:t>simulator, which </a:t>
            </a:r>
            <a:r>
              <a:rPr lang="en-US" altLang="zh-CN" dirty="0"/>
              <a:t>is based on GPGPU-Sim </a:t>
            </a:r>
            <a:r>
              <a:rPr lang="en-US" altLang="zh-CN" dirty="0" smtClean="0"/>
              <a:t>3.2.2.</a:t>
            </a:r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48789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pPr marL="0" indent="0">
              <a:buNone/>
            </a:pP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802" y="2160698"/>
            <a:ext cx="6668030" cy="391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61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4121836"/>
          </a:xfrm>
        </p:spPr>
        <p:txBody>
          <a:bodyPr/>
          <a:lstStyle/>
          <a:p>
            <a:r>
              <a:rPr lang="en-US" altLang="zh-CN" dirty="0"/>
              <a:t>We randomly select 27 applications from the </a:t>
            </a:r>
            <a:r>
              <a:rPr lang="en-US" altLang="zh-CN" dirty="0" smtClean="0"/>
              <a:t>CUDA SDK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865" y="2866206"/>
            <a:ext cx="8441903" cy="250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7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334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6"/>
            <a:ext cx="10972800" cy="4289054"/>
          </a:xfrm>
        </p:spPr>
        <p:txBody>
          <a:bodyPr/>
          <a:lstStyle/>
          <a:p>
            <a:r>
              <a:rPr lang="en-US" altLang="zh-CN" b="1" dirty="0"/>
              <a:t>Static, </a:t>
            </a:r>
            <a:r>
              <a:rPr lang="en-US" altLang="zh-CN" dirty="0"/>
              <a:t>uses a static spatial partitioning of </a:t>
            </a:r>
            <a:r>
              <a:rPr lang="en-US" altLang="zh-CN" dirty="0" smtClean="0"/>
              <a:t>resources</a:t>
            </a:r>
          </a:p>
          <a:p>
            <a:r>
              <a:rPr lang="en-US" altLang="zh-CN" b="1" dirty="0" err="1" smtClean="0"/>
              <a:t>PWCache</a:t>
            </a:r>
            <a:r>
              <a:rPr lang="en-US" altLang="zh-CN" b="1" dirty="0"/>
              <a:t>, </a:t>
            </a:r>
            <a:r>
              <a:rPr lang="en-US" altLang="zh-CN" dirty="0" smtClean="0"/>
              <a:t>models the </a:t>
            </a:r>
            <a:r>
              <a:rPr lang="en-US" altLang="zh-CN" dirty="0"/>
              <a:t>page walk cache baseline </a:t>
            </a:r>
            <a:r>
              <a:rPr lang="en-US" altLang="zh-CN" dirty="0" smtClean="0"/>
              <a:t>design</a:t>
            </a:r>
          </a:p>
          <a:p>
            <a:r>
              <a:rPr lang="en-US" altLang="zh-CN" b="1" dirty="0" err="1" smtClean="0"/>
              <a:t>SharedTLB</a:t>
            </a:r>
            <a:r>
              <a:rPr lang="en-US" altLang="zh-CN" b="1" dirty="0" smtClean="0"/>
              <a:t>,</a:t>
            </a:r>
            <a:r>
              <a:rPr lang="en-US" altLang="zh-CN" dirty="0"/>
              <a:t> models the shared L2 TLB </a:t>
            </a:r>
            <a:r>
              <a:rPr lang="en-US" altLang="zh-CN" dirty="0" smtClean="0"/>
              <a:t>baseline design</a:t>
            </a:r>
          </a:p>
          <a:p>
            <a:r>
              <a:rPr lang="en-US" altLang="zh-CN" b="1" dirty="0" smtClean="0"/>
              <a:t>Ideal,</a:t>
            </a:r>
            <a:r>
              <a:rPr lang="en-US" altLang="zh-CN" dirty="0"/>
              <a:t> represents a hypothetical GPU where every single TLB access is a </a:t>
            </a:r>
            <a:r>
              <a:rPr lang="en-US" altLang="zh-CN" dirty="0" smtClean="0"/>
              <a:t>TLB hit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9897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Multiprogrammed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Workload Performance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  <p:pic>
        <p:nvPicPr>
          <p:cNvPr id="2" name="内容占位符 1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b="15250"/>
          <a:stretch/>
        </p:blipFill>
        <p:spPr>
          <a:xfrm>
            <a:off x="610659" y="2665017"/>
            <a:ext cx="7094008" cy="34436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7549092" y="2855217"/>
            <a:ext cx="4473575" cy="3488267"/>
            <a:chOff x="7718425" y="2252133"/>
            <a:chExt cx="4473575" cy="3488267"/>
          </a:xfrm>
        </p:grpSpPr>
        <p:sp>
          <p:nvSpPr>
            <p:cNvPr id="4" name="文本框 3"/>
            <p:cNvSpPr txBox="1"/>
            <p:nvPr/>
          </p:nvSpPr>
          <p:spPr>
            <a:xfrm>
              <a:off x="7874000" y="2466256"/>
              <a:ext cx="4318000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2400" dirty="0" smtClean="0"/>
                <a:t>Compared </a:t>
              </a:r>
              <a:r>
                <a:rPr lang="en-US" altLang="zh-CN" sz="2400" dirty="0"/>
                <a:t>to </a:t>
              </a:r>
              <a:r>
                <a:rPr lang="en-US" altLang="zh-CN" sz="2400" dirty="0" err="1"/>
                <a:t>SharedTLB</a:t>
              </a:r>
              <a:r>
                <a:rPr lang="en-US" altLang="zh-CN" sz="2400" dirty="0"/>
                <a:t>, which is the </a:t>
              </a:r>
              <a:r>
                <a:rPr lang="en-US" altLang="zh-CN" sz="2400" dirty="0" smtClean="0"/>
                <a:t>best-performing </a:t>
              </a:r>
              <a:r>
                <a:rPr lang="en-US" altLang="zh-CN" sz="2400" dirty="0"/>
                <a:t>baseline, MASK improves the </a:t>
              </a:r>
              <a:r>
                <a:rPr lang="en-US" altLang="zh-CN" sz="2400" dirty="0">
                  <a:solidFill>
                    <a:srgbClr val="FF0000"/>
                  </a:solidFill>
                </a:rPr>
                <a:t>weighted speedup </a:t>
              </a:r>
              <a:r>
                <a:rPr lang="en-US" altLang="zh-CN" sz="2400" dirty="0" smtClean="0">
                  <a:solidFill>
                    <a:srgbClr val="FF0000"/>
                  </a:solidFill>
                </a:rPr>
                <a:t>by 57.8</a:t>
              </a:r>
              <a:r>
                <a:rPr lang="en-US" altLang="zh-CN" sz="2400" dirty="0">
                  <a:solidFill>
                    <a:srgbClr val="FF0000"/>
                  </a:solidFill>
                </a:rPr>
                <a:t>% </a:t>
              </a:r>
              <a:r>
                <a:rPr lang="en-US" altLang="zh-CN" sz="2400" dirty="0"/>
                <a:t>on </a:t>
              </a:r>
              <a:r>
                <a:rPr lang="en-US" altLang="zh-CN" sz="2400" dirty="0" smtClean="0"/>
                <a:t>average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2400" dirty="0"/>
                <a:t>MASK performs only </a:t>
              </a:r>
              <a:r>
                <a:rPr lang="en-US" altLang="zh-CN" sz="2400" dirty="0" smtClean="0"/>
                <a:t>23.2% worse </a:t>
              </a:r>
              <a:r>
                <a:rPr lang="en-US" altLang="zh-CN" sz="2400" dirty="0"/>
                <a:t>than Ideal (where all accesses to the L1 TLB are hits)</a:t>
              </a:r>
              <a:endParaRPr lang="zh-CN" altLang="en-US" sz="2400" dirty="0"/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7718425" y="2252133"/>
              <a:ext cx="4473575" cy="348826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090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Component-by-Component Analysis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Eﬀectiveness of TLB-Fill </a:t>
            </a:r>
            <a:r>
              <a:rPr lang="en-US" altLang="zh-CN" b="1" dirty="0" smtClean="0"/>
              <a:t>Tokens</a:t>
            </a:r>
          </a:p>
          <a:p>
            <a:pPr lvl="1"/>
            <a:r>
              <a:rPr lang="en-US" altLang="zh-CN" dirty="0"/>
              <a:t>MASK uses TLB-Fill Tokens </a:t>
            </a:r>
            <a:r>
              <a:rPr lang="en-US" altLang="zh-CN" dirty="0" smtClean="0"/>
              <a:t>to reduce thrashing</a:t>
            </a:r>
          </a:p>
          <a:p>
            <a:pPr lvl="1"/>
            <a:r>
              <a:rPr lang="en-US" altLang="zh-CN" dirty="0"/>
              <a:t>The hit rates for Static and </a:t>
            </a:r>
            <a:r>
              <a:rPr lang="en-US" altLang="zh-CN" dirty="0" err="1"/>
              <a:t>SharedTLB</a:t>
            </a:r>
            <a:r>
              <a:rPr lang="en-US" altLang="zh-CN" dirty="0"/>
              <a:t> are substantially </a:t>
            </a:r>
            <a:r>
              <a:rPr lang="en-US" altLang="zh-CN" dirty="0" smtClean="0"/>
              <a:t>similar</a:t>
            </a:r>
          </a:p>
          <a:p>
            <a:pPr lvl="1"/>
            <a:r>
              <a:rPr lang="en-US" altLang="zh-CN" dirty="0"/>
              <a:t>MASK-TLB increases shared L2 TLB hit rates </a:t>
            </a:r>
            <a:r>
              <a:rPr lang="en-US" altLang="zh-CN" dirty="0" smtClean="0"/>
              <a:t>by 49.9</a:t>
            </a:r>
            <a:r>
              <a:rPr lang="en-US" altLang="zh-CN" dirty="0"/>
              <a:t>% on average over </a:t>
            </a:r>
            <a:r>
              <a:rPr lang="en-US" altLang="zh-CN" dirty="0" err="1" smtClean="0"/>
              <a:t>SharedTLB</a:t>
            </a:r>
            <a:endParaRPr lang="en-US" altLang="zh-CN" dirty="0" smtClean="0"/>
          </a:p>
          <a:p>
            <a:pPr lvl="1"/>
            <a:r>
              <a:rPr lang="en-US" altLang="zh-CN" i="1" dirty="0"/>
              <a:t>TLB-Fill </a:t>
            </a:r>
            <a:r>
              <a:rPr lang="en-US" altLang="zh-CN" i="1" dirty="0" smtClean="0"/>
              <a:t>Tokens </a:t>
            </a:r>
            <a:r>
              <a:rPr lang="en-US" altLang="zh-CN" dirty="0" smtClean="0"/>
              <a:t>mechanism </a:t>
            </a:r>
            <a:r>
              <a:rPr lang="en-US" altLang="zh-CN" dirty="0"/>
              <a:t>reduces the number of warps utilizing the shared </a:t>
            </a:r>
            <a:r>
              <a:rPr lang="en-US" altLang="zh-CN" dirty="0" smtClean="0"/>
              <a:t>L2 TLB </a:t>
            </a:r>
            <a:r>
              <a:rPr lang="en-US" altLang="zh-CN" dirty="0"/>
              <a:t>entries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6026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Component-by-Component Analysis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24417" y="2200912"/>
            <a:ext cx="10972800" cy="4282438"/>
          </a:xfrm>
        </p:spPr>
        <p:txBody>
          <a:bodyPr/>
          <a:lstStyle/>
          <a:p>
            <a:r>
              <a:rPr lang="en-US" altLang="zh-CN" b="1" dirty="0"/>
              <a:t>Eﬀectiveness of Address-Translation-Aware L2 </a:t>
            </a:r>
            <a:r>
              <a:rPr lang="en-US" altLang="zh-CN" b="1" dirty="0" smtClean="0"/>
              <a:t>Bypass</a:t>
            </a:r>
          </a:p>
          <a:p>
            <a:pPr lvl="1"/>
            <a:r>
              <a:rPr lang="en-US" altLang="zh-CN" dirty="0" smtClean="0"/>
              <a:t>MASK uses </a:t>
            </a:r>
            <a:r>
              <a:rPr lang="en-US" altLang="zh-CN" dirty="0"/>
              <a:t>Address-Translation-Aware L2 Bypass with the goal of prioritizing address translation </a:t>
            </a:r>
            <a:r>
              <a:rPr lang="en-US" altLang="zh-CN" dirty="0" smtClean="0"/>
              <a:t>requests</a:t>
            </a:r>
            <a:endParaRPr lang="en-US" altLang="zh-CN" dirty="0"/>
          </a:p>
          <a:p>
            <a:pPr lvl="1"/>
            <a:r>
              <a:rPr lang="en-US" altLang="zh-CN" dirty="0" smtClean="0"/>
              <a:t>Address-Translation-Aware </a:t>
            </a:r>
            <a:r>
              <a:rPr lang="en-US" altLang="zh-CN" dirty="0"/>
              <a:t>L2 Bypass is very eﬀective at selecting </a:t>
            </a:r>
            <a:r>
              <a:rPr lang="en-US" altLang="zh-CN" dirty="0" smtClean="0"/>
              <a:t>which blocks </a:t>
            </a:r>
            <a:r>
              <a:rPr lang="en-US" altLang="zh-CN" dirty="0"/>
              <a:t>to cache, resulting in an address translation request hit </a:t>
            </a:r>
            <a:r>
              <a:rPr lang="en-US" altLang="zh-CN" dirty="0" smtClean="0"/>
              <a:t>rate that </a:t>
            </a:r>
            <a:r>
              <a:rPr lang="en-US" altLang="zh-CN" dirty="0"/>
              <a:t>is higher than 99% for all of our </a:t>
            </a:r>
            <a:r>
              <a:rPr lang="en-US" altLang="zh-CN" dirty="0" smtClean="0"/>
              <a:t>workloads</a:t>
            </a:r>
          </a:p>
          <a:p>
            <a:pPr lvl="1"/>
            <a:r>
              <a:rPr lang="en-US" altLang="zh-CN" dirty="0"/>
              <a:t>Address-Translation-Aware L2 Bypass minimizes the impact of </a:t>
            </a:r>
            <a:r>
              <a:rPr lang="en-US" altLang="zh-CN" dirty="0" smtClean="0"/>
              <a:t>long L2 </a:t>
            </a:r>
            <a:r>
              <a:rPr lang="en-US" altLang="zh-CN" dirty="0"/>
              <a:t>cache queuing latency [16], leading to a 43.6% </a:t>
            </a:r>
            <a:r>
              <a:rPr lang="en-US" altLang="zh-CN" dirty="0" smtClean="0"/>
              <a:t>performance improvement </a:t>
            </a:r>
            <a:r>
              <a:rPr lang="en-US" altLang="zh-CN" dirty="0"/>
              <a:t>compared to </a:t>
            </a:r>
            <a:r>
              <a:rPr lang="en-US" altLang="zh-CN" dirty="0" err="1"/>
              <a:t>SharedTLB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7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Component-by-Component Analysis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24417" y="2200912"/>
            <a:ext cx="10972800" cy="4282438"/>
          </a:xfrm>
        </p:spPr>
        <p:txBody>
          <a:bodyPr/>
          <a:lstStyle/>
          <a:p>
            <a:r>
              <a:rPr lang="en-US" altLang="zh-CN" b="1" dirty="0"/>
              <a:t>Eﬀectiveness </a:t>
            </a:r>
            <a:r>
              <a:rPr lang="en-US" altLang="zh-CN" b="1" dirty="0" smtClean="0"/>
              <a:t>of </a:t>
            </a:r>
            <a:r>
              <a:rPr lang="en-US" altLang="zh-CN" b="1" i="1" dirty="0" smtClean="0"/>
              <a:t>Address-Space-Aware </a:t>
            </a:r>
            <a:r>
              <a:rPr lang="en-US" altLang="zh-CN" b="1" i="1" dirty="0"/>
              <a:t>DRAM Scheduler</a:t>
            </a:r>
            <a:r>
              <a:rPr lang="en-US" altLang="zh-CN" dirty="0"/>
              <a:t> </a:t>
            </a:r>
            <a:endParaRPr lang="en-US" altLang="zh-CN" dirty="0" smtClean="0"/>
          </a:p>
          <a:p>
            <a:pPr lvl="1"/>
            <a:r>
              <a:rPr lang="en-US" altLang="zh-CN" dirty="0"/>
              <a:t>MASK is eﬀective at reducing the DRAM latency of address translation requests, which contributes to the </a:t>
            </a:r>
            <a:r>
              <a:rPr lang="en-US" altLang="zh-CN" dirty="0" smtClean="0"/>
              <a:t>22.7% performance </a:t>
            </a:r>
            <a:r>
              <a:rPr lang="en-US" altLang="zh-CN" dirty="0"/>
              <a:t>improvement of MASK-DRAM over </a:t>
            </a:r>
            <a:r>
              <a:rPr lang="en-US" altLang="zh-CN" dirty="0" err="1" smtClean="0"/>
              <a:t>SharedTLB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55696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Multiprogrammed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Unfairness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24</a:t>
            </a:fld>
            <a:endParaRPr lang="en-US" altLang="zh-CN" dirty="0"/>
          </a:p>
        </p:txBody>
      </p:sp>
      <p:grpSp>
        <p:nvGrpSpPr>
          <p:cNvPr id="6" name="组合 5"/>
          <p:cNvGrpSpPr/>
          <p:nvPr/>
        </p:nvGrpSpPr>
        <p:grpSpPr>
          <a:xfrm>
            <a:off x="7549092" y="2245617"/>
            <a:ext cx="4473575" cy="3999775"/>
            <a:chOff x="7718425" y="2252133"/>
            <a:chExt cx="4473575" cy="3999775"/>
          </a:xfrm>
        </p:grpSpPr>
        <p:sp>
          <p:nvSpPr>
            <p:cNvPr id="4" name="文本框 3"/>
            <p:cNvSpPr txBox="1"/>
            <p:nvPr/>
          </p:nvSpPr>
          <p:spPr>
            <a:xfrm>
              <a:off x="7874000" y="2466256"/>
              <a:ext cx="4318000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2400" dirty="0" smtClean="0"/>
                <a:t>Compared to </a:t>
              </a:r>
              <a:r>
                <a:rPr lang="en-US" altLang="zh-CN" sz="2400" dirty="0"/>
                <a:t>statically partitioning resources (Static), MASK provides </a:t>
              </a:r>
              <a:r>
                <a:rPr lang="en-US" altLang="zh-CN" sz="2400" dirty="0" smtClean="0"/>
                <a:t>better fairness </a:t>
              </a:r>
              <a:r>
                <a:rPr lang="en-US" altLang="zh-CN" sz="2400" dirty="0"/>
                <a:t>by allowing both applications to access all shared </a:t>
              </a:r>
              <a:r>
                <a:rPr lang="en-US" altLang="zh-CN" sz="2400" dirty="0" smtClean="0"/>
                <a:t>resources.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2400" dirty="0" smtClean="0"/>
                <a:t>Compared </a:t>
              </a:r>
              <a:r>
                <a:rPr lang="en-US" altLang="zh-CN" sz="2400" dirty="0"/>
                <a:t>to </a:t>
              </a:r>
              <a:r>
                <a:rPr lang="en-US" altLang="zh-CN" sz="2400" dirty="0" err="1"/>
                <a:t>SharedTLB</a:t>
              </a:r>
              <a:r>
                <a:rPr lang="en-US" altLang="zh-CN" sz="2400" dirty="0"/>
                <a:t>, which is the baseline that </a:t>
              </a:r>
              <a:r>
                <a:rPr lang="en-US" altLang="zh-CN" sz="2400" dirty="0" smtClean="0"/>
                <a:t>provides the </a:t>
              </a:r>
              <a:r>
                <a:rPr lang="en-US" altLang="zh-CN" sz="2400" dirty="0"/>
                <a:t>best fairness, MASK reduces unfairness by 22.4% on average.</a:t>
              </a:r>
              <a:endParaRPr lang="zh-CN" altLang="en-US" sz="2400" dirty="0"/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7718425" y="2252133"/>
              <a:ext cx="4473575" cy="3999775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7350" y="2597203"/>
            <a:ext cx="6866479" cy="290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66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3347627"/>
            <a:ext cx="7901034" cy="1600729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7901034" y="1388532"/>
            <a:ext cx="4121633" cy="5498670"/>
            <a:chOff x="7901034" y="1388532"/>
            <a:chExt cx="4290966" cy="5498670"/>
          </a:xfrm>
        </p:grpSpPr>
        <p:sp>
          <p:nvSpPr>
            <p:cNvPr id="4" name="圆角矩形 3"/>
            <p:cNvSpPr/>
            <p:nvPr/>
          </p:nvSpPr>
          <p:spPr>
            <a:xfrm>
              <a:off x="7901034" y="1388532"/>
              <a:ext cx="4290966" cy="5022419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7992052" y="1408779"/>
              <a:ext cx="4108930" cy="5478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sz="2400" dirty="0" smtClean="0"/>
                <a:t>In </a:t>
              </a:r>
              <a:r>
                <a:rPr lang="en-US" altLang="zh-CN" sz="2400" dirty="0"/>
                <a:t>general, as </a:t>
              </a:r>
              <a:r>
                <a:rPr lang="en-US" altLang="zh-CN" sz="2400" dirty="0" smtClean="0"/>
                <a:t>the application </a:t>
              </a:r>
              <a:r>
                <a:rPr lang="en-US" altLang="zh-CN" sz="2400" dirty="0"/>
                <a:t>count increases, contention for shared resources (e.g</a:t>
              </a:r>
              <a:r>
                <a:rPr lang="en-US" altLang="zh-CN" sz="2400" dirty="0" smtClean="0"/>
                <a:t>., shared </a:t>
              </a:r>
              <a:r>
                <a:rPr lang="en-US" altLang="zh-CN" sz="2400" dirty="0"/>
                <a:t>L2 TLB, shared L2 cache) draws the performance for </a:t>
              </a:r>
              <a:r>
                <a:rPr lang="en-US" altLang="zh-CN" sz="2400" dirty="0" smtClean="0"/>
                <a:t>both </a:t>
              </a:r>
              <a:r>
                <a:rPr lang="en-US" altLang="zh-CN" sz="2400" dirty="0" err="1" smtClean="0"/>
                <a:t>SharedTLB</a:t>
              </a:r>
              <a:r>
                <a:rPr lang="en-US" altLang="zh-CN" sz="2400" dirty="0" smtClean="0"/>
                <a:t> </a:t>
              </a:r>
              <a:r>
                <a:rPr lang="en-US" altLang="zh-CN" sz="2400" dirty="0"/>
                <a:t>and MASK further from the performance of Ideal. </a:t>
              </a:r>
              <a:endParaRPr lang="en-US" altLang="zh-CN" sz="2400" dirty="0" smtClean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sz="2400" dirty="0"/>
                <a:t>MASK is eﬀective at reducing the </a:t>
              </a:r>
              <a:r>
                <a:rPr lang="en-US" altLang="zh-CN" sz="2400" dirty="0" smtClean="0"/>
                <a:t>amount of </a:t>
              </a:r>
              <a:r>
                <a:rPr lang="en-US" altLang="zh-CN" sz="2400" dirty="0">
                  <a:solidFill>
                    <a:srgbClr val="FF0000"/>
                  </a:solidFill>
                </a:rPr>
                <a:t>contention</a:t>
              </a:r>
              <a:r>
                <a:rPr lang="en-US" altLang="zh-CN" sz="2400" dirty="0"/>
                <a:t> at the heavily-contended shared </a:t>
              </a:r>
              <a:r>
                <a:rPr lang="en-US" altLang="zh-CN" sz="2400" dirty="0" smtClean="0"/>
                <a:t>TLB.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zh-CN" sz="2000" dirty="0" smtClean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4207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Methodology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0060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696312" cy="4270629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MASK consists of three novel address-translation-aware cache and memory management mechanisms that work together to largely reduce the overhead of address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token-based technique to reduce TLB contention,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bypassing mechanism to improve the eﬀectiveness of cached address translations,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application-aware memory scheduling scheme to reduce the interference between address translation and data requests. 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2497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696312" cy="4270629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CN" dirty="0" smtClean="0"/>
              <a:t>The evaluations </a:t>
            </a:r>
            <a:r>
              <a:rPr lang="en-US" altLang="zh-CN" dirty="0"/>
              <a:t>show that MASK restores much of the throughput lost to TLB contention. </a:t>
            </a:r>
            <a:endParaRPr lang="en-US" altLang="zh-CN" dirty="0" smtClean="0"/>
          </a:p>
          <a:p>
            <a:pPr eaLnBrk="1" hangingPunct="1">
              <a:spcBef>
                <a:spcPct val="0"/>
              </a:spcBef>
            </a:pPr>
            <a:r>
              <a:rPr lang="en-US" altLang="zh-CN" dirty="0" smtClean="0"/>
              <a:t>Relative </a:t>
            </a:r>
            <a:r>
              <a:rPr lang="en-US" altLang="zh-CN" dirty="0"/>
              <a:t>to a state-of-the-art GPU TLB, MASK improves system throughput by 57.8%, improves IPC throughput by 43.4%, and reduces </a:t>
            </a:r>
            <a:r>
              <a:rPr lang="en-US" altLang="zh-CN" dirty="0" err="1"/>
              <a:t>applicationlevel</a:t>
            </a:r>
            <a:r>
              <a:rPr lang="en-US" altLang="zh-CN" dirty="0"/>
              <a:t> unfairness by 22.4</a:t>
            </a:r>
            <a:r>
              <a:rPr lang="en-US" altLang="zh-CN" dirty="0" smtClean="0"/>
              <a:t>%.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 smtClean="0"/>
              <a:t>MASK’s </a:t>
            </a:r>
            <a:r>
              <a:rPr lang="en-US" altLang="zh-CN" dirty="0"/>
              <a:t>system throughput is within 23.2% of an ideal GPU system with no address translation overhead.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1156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29</a:t>
            </a:fld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698628" y="2823231"/>
            <a:ext cx="8929115" cy="1550807"/>
          </a:xfrm>
        </p:spPr>
        <p:txBody>
          <a:bodyPr/>
          <a:lstStyle/>
          <a:p>
            <a:pPr marL="715963" indent="-715963">
              <a:buNone/>
            </a:pPr>
            <a:r>
              <a:rPr lang="en-US" altLang="zh-CN" sz="7200" b="1" dirty="0" smtClean="0"/>
              <a:t>Thanks &amp; Comments!</a:t>
            </a:r>
            <a:endParaRPr lang="zh-CN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219799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 10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7036</TotalTime>
  <Words>1452</Words>
  <Application>Microsoft Office PowerPoint</Application>
  <PresentationFormat>宽屏</PresentationFormat>
  <Paragraphs>200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Arial Unicode MS</vt:lpstr>
      <vt:lpstr>等线</vt:lpstr>
      <vt:lpstr>楷体</vt:lpstr>
      <vt:lpstr>宋体</vt:lpstr>
      <vt:lpstr>微软雅黑</vt:lpstr>
      <vt:lpstr>Arial</vt:lpstr>
      <vt:lpstr>Times New Roman</vt:lpstr>
      <vt:lpstr>Wingdings</vt:lpstr>
      <vt:lpstr>默认设计模板</vt:lpstr>
      <vt:lpstr>MASK: Redesigning the GPU Memory Hierarchy to Support Multi-Application Concurrency</vt:lpstr>
      <vt:lpstr>Authors</vt:lpstr>
      <vt:lpstr>OUTLINE</vt:lpstr>
      <vt:lpstr>Introduction</vt:lpstr>
      <vt:lpstr>Introduction</vt:lpstr>
      <vt:lpstr>Introduction</vt:lpstr>
      <vt:lpstr>Introduction</vt:lpstr>
      <vt:lpstr>Introduction</vt:lpstr>
      <vt:lpstr>OUTLINE</vt:lpstr>
      <vt:lpstr>MASK Design</vt:lpstr>
      <vt:lpstr>MASK Design</vt:lpstr>
      <vt:lpstr>MASK Design</vt:lpstr>
      <vt:lpstr>MASK Design</vt:lpstr>
      <vt:lpstr>OUTLINE</vt:lpstr>
      <vt:lpstr>Methodology</vt:lpstr>
      <vt:lpstr>Methodology</vt:lpstr>
      <vt:lpstr>Methodology</vt:lpstr>
      <vt:lpstr>OUTLINE</vt:lpstr>
      <vt:lpstr>Experiments &amp; Evaluation</vt:lpstr>
      <vt:lpstr>Multiprogrammed Workload Performance</vt:lpstr>
      <vt:lpstr>Component-by-Component Analysis</vt:lpstr>
      <vt:lpstr>Component-by-Component Analysis</vt:lpstr>
      <vt:lpstr>Component-by-Component Analysis</vt:lpstr>
      <vt:lpstr>Multiprogrammed Workload Unfairness</vt:lpstr>
      <vt:lpstr>Scalability</vt:lpstr>
      <vt:lpstr>OUTLINE</vt:lpstr>
      <vt:lpstr>Conclusions</vt:lpstr>
      <vt:lpstr>Conclusions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liushuai</dc:creator>
  <cp:lastModifiedBy>朱君鹏</cp:lastModifiedBy>
  <cp:revision>619</cp:revision>
  <dcterms:created xsi:type="dcterms:W3CDTF">2018-07-12T13:40:09Z</dcterms:created>
  <dcterms:modified xsi:type="dcterms:W3CDTF">2019-05-01T14:23:26Z</dcterms:modified>
</cp:coreProperties>
</file>