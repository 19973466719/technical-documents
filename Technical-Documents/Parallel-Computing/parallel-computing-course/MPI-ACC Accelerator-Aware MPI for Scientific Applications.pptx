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>
    <p:sldId id="272" r:id="rId2"/>
    <p:sldId id="279" r:id="rId3"/>
    <p:sldId id="273" r:id="rId4"/>
    <p:sldId id="309" r:id="rId5"/>
    <p:sldId id="311" r:id="rId6"/>
    <p:sldId id="310" r:id="rId7"/>
    <p:sldId id="274" r:id="rId8"/>
    <p:sldId id="307" r:id="rId9"/>
    <p:sldId id="308" r:id="rId10"/>
    <p:sldId id="312" r:id="rId11"/>
    <p:sldId id="313" r:id="rId12"/>
    <p:sldId id="298" r:id="rId13"/>
    <p:sldId id="304" r:id="rId14"/>
    <p:sldId id="314" r:id="rId15"/>
    <p:sldId id="315" r:id="rId16"/>
    <p:sldId id="316" r:id="rId17"/>
    <p:sldId id="285" r:id="rId18"/>
    <p:sldId id="319" r:id="rId19"/>
    <p:sldId id="320" r:id="rId20"/>
    <p:sldId id="321" r:id="rId21"/>
    <p:sldId id="322" r:id="rId22"/>
    <p:sldId id="323" r:id="rId23"/>
    <p:sldId id="317" r:id="rId24"/>
    <p:sldId id="324" r:id="rId25"/>
    <p:sldId id="325" r:id="rId26"/>
    <p:sldId id="326" r:id="rId27"/>
    <p:sldId id="327" r:id="rId28"/>
    <p:sldId id="328" r:id="rId29"/>
    <p:sldId id="329" r:id="rId30"/>
    <p:sldId id="330" r:id="rId31"/>
    <p:sldId id="286" r:id="rId32"/>
    <p:sldId id="278" r:id="rId33"/>
    <p:sldId id="318" r:id="rId3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A93084-53C3-4D41-9C09-AF8810E82D9D}" type="datetimeFigureOut">
              <a:rPr lang="zh-CN" altLang="en-US" smtClean="0"/>
              <a:t>2019/3/31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EDB04C-407A-4E30-92AE-914D18A6AE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6333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524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3931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314828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40845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04222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86778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409258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38829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96634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19657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19902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42271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30128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675734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06345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56724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951053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97410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030773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76110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24833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00715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15866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81157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428076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31853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174664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931297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10098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826502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569224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475288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幻灯片图像占位符 1">
            <a:extLst>
              <a:ext uri="{FF2B5EF4-FFF2-40B4-BE49-F238E27FC236}">
                <a16:creationId xmlns="" xmlns:a16="http://schemas.microsoft.com/office/drawing/2014/main" id="{4908B133-C54F-400F-8F70-355C57C0BE1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7" name="备注占位符 2">
            <a:extLst>
              <a:ext uri="{FF2B5EF4-FFF2-40B4-BE49-F238E27FC236}">
                <a16:creationId xmlns="" xmlns:a16="http://schemas.microsoft.com/office/drawing/2014/main" id="{7D16C196-D24B-4BE0-AE74-D44907B2A1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6148" name="灯片编号占位符 3">
            <a:extLst>
              <a:ext uri="{FF2B5EF4-FFF2-40B4-BE49-F238E27FC236}">
                <a16:creationId xmlns="" xmlns:a16="http://schemas.microsoft.com/office/drawing/2014/main" id="{D230392C-ED50-49C3-93A6-10868BF6DA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8B77654-DC41-416A-BE3E-48F8E5B1370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729582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558AFC1F-0EC5-49BF-9268-F0FEE4B60F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="" xmlns:a16="http://schemas.microsoft.com/office/drawing/2014/main" id="{411F25FC-AA7A-420B-9A3A-84ECEF4013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="" xmlns:a16="http://schemas.microsoft.com/office/drawing/2014/main" id="{892DDA44-EBAA-4B0D-B1AD-17FC12E2434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="" xmlns:a16="http://schemas.microsoft.com/office/drawing/2014/main" id="{59A68DBD-F8D1-4CAE-ACF1-A66E61D864F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="" xmlns:a16="http://schemas.microsoft.com/office/drawing/2014/main" id="{A406CACD-345F-48D9-9536-018A859493C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FEC1DA1-AEE0-4901-AC22-4AB8DF725C4C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1981617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79C7DECC-98E6-4FD9-AAA2-12B4A61F9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2DFFF49D-5346-4472-B7B4-2B4B12070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="" xmlns:a16="http://schemas.microsoft.com/office/drawing/2014/main" id="{3AE54C17-8281-4CEE-80BD-30C4F778807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="" xmlns:a16="http://schemas.microsoft.com/office/drawing/2014/main" id="{AA5AD5C1-CA4D-49A1-9F23-7E560881912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="" xmlns:a16="http://schemas.microsoft.com/office/drawing/2014/main" id="{89EA5E6E-1878-4876-87FC-34CF0D7DC10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8752417" y="6483350"/>
            <a:ext cx="2844800" cy="476250"/>
          </a:xfrm>
          <a:ln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01889073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D1C66AC4-7745-487C-B77E-D7209402F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="" xmlns:a16="http://schemas.microsoft.com/office/drawing/2014/main" id="{F0642504-C3D3-4FEB-932D-43E1524227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="" xmlns:a16="http://schemas.microsoft.com/office/drawing/2014/main" id="{1FDDD93F-F324-4F9A-B9D4-6849A4C3DA3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="" xmlns:a16="http://schemas.microsoft.com/office/drawing/2014/main" id="{58D17B65-E136-4CDA-8948-06EE82F4BCF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="" xmlns:a16="http://schemas.microsoft.com/office/drawing/2014/main" id="{D7125560-B1D6-4FEA-8C81-81F49D4763C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1190072-98D8-4D19-A4FD-491B38D19684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305764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235DD831-5C92-41D8-B2A4-F735B961D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40589EF3-2B1D-4F74-90F9-1600D88D27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2276475"/>
            <a:ext cx="5384800" cy="38496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="" xmlns:a16="http://schemas.microsoft.com/office/drawing/2014/main" id="{31894757-41E5-4DC3-B486-BF0D8D2E3B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97600" y="2276475"/>
            <a:ext cx="5384800" cy="38496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80B46424-4DF5-42C6-BA6D-7A5F0843E63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54C6D9C2-78B1-4830-B70B-68D245CB398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7C8F0C60-8AC6-4F0E-B049-CFBBD780349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2F264D2-4548-4D70-BC8F-40E2B81C91D6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010567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5EAC2349-C79E-4DAD-A7EC-F121B92EA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="" xmlns:a16="http://schemas.microsoft.com/office/drawing/2014/main" id="{6577C8D4-D6FA-4BC8-982E-A569EF3496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="" xmlns:a16="http://schemas.microsoft.com/office/drawing/2014/main" id="{2C1BD52F-78B6-4701-9C21-05A4842E29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="" xmlns:a16="http://schemas.microsoft.com/office/drawing/2014/main" id="{41B5E117-E18D-486E-BBF0-E55E36688C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="" xmlns:a16="http://schemas.microsoft.com/office/drawing/2014/main" id="{1A6184B9-916F-4A62-BB58-A9E1721165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="" xmlns:a16="http://schemas.microsoft.com/office/drawing/2014/main" id="{9BDEFA24-1BB9-4A63-BE04-B2CD6F8BC7C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5">
            <a:extLst>
              <a:ext uri="{FF2B5EF4-FFF2-40B4-BE49-F238E27FC236}">
                <a16:creationId xmlns="" xmlns:a16="http://schemas.microsoft.com/office/drawing/2014/main" id="{291227B2-68B3-4699-A416-5C0E6B364CA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6">
            <a:extLst>
              <a:ext uri="{FF2B5EF4-FFF2-40B4-BE49-F238E27FC236}">
                <a16:creationId xmlns="" xmlns:a16="http://schemas.microsoft.com/office/drawing/2014/main" id="{DEC7A77C-9158-4F27-8F28-4C65512DA59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59D4226-8A00-4B13-8BD5-0BA02A062F43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566424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2BC76C51-0028-4F2D-A216-4D11F5334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="" xmlns:a16="http://schemas.microsoft.com/office/drawing/2014/main" id="{91CC3BF1-A404-4E2C-8AA3-99428C6F6D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5">
            <a:extLst>
              <a:ext uri="{FF2B5EF4-FFF2-40B4-BE49-F238E27FC236}">
                <a16:creationId xmlns="" xmlns:a16="http://schemas.microsoft.com/office/drawing/2014/main" id="{B7D80654-FEB6-4772-9441-0475550AB2E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6">
            <a:extLst>
              <a:ext uri="{FF2B5EF4-FFF2-40B4-BE49-F238E27FC236}">
                <a16:creationId xmlns="" xmlns:a16="http://schemas.microsoft.com/office/drawing/2014/main" id="{968FB6E6-FDEC-4041-BA77-FFA3A3FA254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D731956-B08F-45CF-AAAE-D7110A88C161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56214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="" xmlns:a16="http://schemas.microsoft.com/office/drawing/2014/main" id="{6DC56CB5-95F7-41B4-8677-E12EBE1FBD5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Rectangle 5">
            <a:extLst>
              <a:ext uri="{FF2B5EF4-FFF2-40B4-BE49-F238E27FC236}">
                <a16:creationId xmlns="" xmlns:a16="http://schemas.microsoft.com/office/drawing/2014/main" id="{B7F0A7C5-5870-4D46-AA35-704A0D3C866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6">
            <a:extLst>
              <a:ext uri="{FF2B5EF4-FFF2-40B4-BE49-F238E27FC236}">
                <a16:creationId xmlns="" xmlns:a16="http://schemas.microsoft.com/office/drawing/2014/main" id="{11F62A78-2485-4514-AD6F-798D74A4E02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2DAE40-8A88-4776-8B63-952B7CED98D6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96186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0BD92CCA-0140-4241-AF84-A0DFC0FC9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B149F413-03E0-42C8-96F2-A26C380EC6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="" xmlns:a16="http://schemas.microsoft.com/office/drawing/2014/main" id="{80CED1CF-0137-4B94-B04B-8FDCB7C8B1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83A028F8-90C5-4894-9D68-1F454A6818E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4B6B0556-8025-49EB-A9D8-E82F10331C3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327CC8F1-4BD0-4FEC-AECB-DEAE8BCBA20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2004D73-BC72-44E2-82FB-E17267424CA1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016389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71EFFC16-3EB0-4FBB-96E7-A6D46DBE0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="" xmlns:a16="http://schemas.microsoft.com/office/drawing/2014/main" id="{5B422F93-2D7C-4C8D-98F2-E969A8987B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>
            <a:extLst>
              <a:ext uri="{FF2B5EF4-FFF2-40B4-BE49-F238E27FC236}">
                <a16:creationId xmlns="" xmlns:a16="http://schemas.microsoft.com/office/drawing/2014/main" id="{C6BF88C8-E1D1-4529-AA38-9722474E4E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8A92ADD1-D1E1-4FA7-89F9-EAC168EC5F5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8AC2AA6A-2DDF-4129-A813-17A48D5D657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AFAB14F8-8064-48F6-8B6D-74918353173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1B6CFA7-5AB6-4D88-A282-6772FDB8DEA4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578707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="" xmlns:a16="http://schemas.microsoft.com/office/drawing/2014/main" id="{413EF4AD-90B9-4E2D-B48C-D5D41ADC0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="" xmlns:a16="http://schemas.microsoft.com/office/drawing/2014/main" id="{2935463B-296C-4D20-B55D-237CE16049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="" xmlns:a16="http://schemas.microsoft.com/office/drawing/2014/main" id="{1572E583-F505-4444-906F-8206A9EE7F1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="" xmlns:a16="http://schemas.microsoft.com/office/drawing/2014/main" id="{59D895F1-9DF8-48A9-9C6A-3A7AC93DF3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="" xmlns:a16="http://schemas.microsoft.com/office/drawing/2014/main" id="{291603C0-AEEF-495C-84B8-A97B75DBDA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698A9B0-097E-4ED5-BE94-BC7DEA00132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539731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="" xmlns:a16="http://schemas.microsoft.com/office/drawing/2014/main" id="{5C3D78EF-5EF5-478D-8576-1606D3C291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51900" y="981075"/>
            <a:ext cx="2745317" cy="514508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="" xmlns:a16="http://schemas.microsoft.com/office/drawing/2014/main" id="{4DCD9F3D-20DB-4182-AD70-C533BC393E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9601" y="981075"/>
            <a:ext cx="8039100" cy="514508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="" xmlns:a16="http://schemas.microsoft.com/office/drawing/2014/main" id="{80FCF88E-129A-43F9-90EC-1AB558A2726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>
            <a:extLst>
              <a:ext uri="{FF2B5EF4-FFF2-40B4-BE49-F238E27FC236}">
                <a16:creationId xmlns="" xmlns:a16="http://schemas.microsoft.com/office/drawing/2014/main" id="{3124BE14-18C5-46A6-8BD5-794314EF816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>
            <a:extLst>
              <a:ext uri="{FF2B5EF4-FFF2-40B4-BE49-F238E27FC236}">
                <a16:creationId xmlns="" xmlns:a16="http://schemas.microsoft.com/office/drawing/2014/main" id="{597D6CFD-B5D7-46E4-8617-4E9947427CA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D3DD5C8-B889-4127-8E1A-DA6BA84FD0C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482753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="" xmlns:a16="http://schemas.microsoft.com/office/drawing/2014/main" id="{80EF2504-E3EA-4812-BCE9-548B5A52613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24417" y="981075"/>
            <a:ext cx="109728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="" xmlns:a16="http://schemas.microsoft.com/office/drawing/2014/main" id="{7E888592-4D67-4FDC-8ACC-8DD192CAF42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2276475"/>
            <a:ext cx="10972800" cy="3849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="" xmlns:a16="http://schemas.microsoft.com/office/drawing/2014/main" id="{40A3712E-94B2-46ED-881D-E1249EF279C0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29" name="Rectangle 5">
            <a:extLst>
              <a:ext uri="{FF2B5EF4-FFF2-40B4-BE49-F238E27FC236}">
                <a16:creationId xmlns="" xmlns:a16="http://schemas.microsoft.com/office/drawing/2014/main" id="{26116D60-C064-41BB-B932-09348EA6EB7D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30" name="Rectangle 6">
            <a:extLst>
              <a:ext uri="{FF2B5EF4-FFF2-40B4-BE49-F238E27FC236}">
                <a16:creationId xmlns="" xmlns:a16="http://schemas.microsoft.com/office/drawing/2014/main" id="{4E6E49BE-DB26-4C77-94F7-5228E224DF48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D0EB355C-F78B-412A-B99D-286EA36C1A2E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2" name="文本框 1"/>
          <p:cNvSpPr txBox="1"/>
          <p:nvPr userDrawn="1"/>
        </p:nvSpPr>
        <p:spPr>
          <a:xfrm>
            <a:off x="4001903" y="367546"/>
            <a:ext cx="7237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MPI-ACC:</a:t>
            </a:r>
            <a:r>
              <a:rPr lang="en-US" altLang="zh-CN" baseline="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Accelerator-Aware MPI for Scientific Applications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6675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iming>
    <p:tnLst>
      <p:par>
        <p:cTn id="1" dur="indefinite" restart="never" nodeType="tmRoot"/>
      </p:par>
    </p:tnLst>
  </p:timing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 b="1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000" b="1">
          <a:solidFill>
            <a:schemeClr val="tx2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209675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MPI-ACC: Accelerator-Aware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MPI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 Scientific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893" y="2919949"/>
            <a:ext cx="11481847" cy="1689759"/>
          </a:xfrm>
        </p:spPr>
        <p:txBody>
          <a:bodyPr/>
          <a:lstStyle/>
          <a:p>
            <a:pPr marL="0" indent="0">
              <a:buNone/>
            </a:pP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Authors: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Ashwin M. 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Aji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Wu-</a:t>
            </a:r>
            <a:r>
              <a:rPr lang="en-US" altLang="zh-CN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chun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Feng ,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Rajeev Thakur</a:t>
            </a:r>
            <a:endParaRPr lang="en-US" altLang="zh-CN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Affiliate: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Virginia Tech, Alamos National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Laboratory, Argonne National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Laboratory</a:t>
            </a:r>
          </a:p>
          <a:p>
            <a:pPr marL="1790700" indent="-1790700">
              <a:buNone/>
            </a:pP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Published in: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IEEE 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Transactions on Parallel and Distributed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ystems (</a:t>
            </a:r>
            <a:r>
              <a:rPr lang="en-US" altLang="zh-CN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TPDS’16 CCF A</a:t>
            </a:r>
            <a:r>
              <a:rPr lang="en-US" altLang="zh-C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 txBox="1">
            <a:spLocks/>
          </p:cNvSpPr>
          <p:nvPr/>
        </p:nvSpPr>
        <p:spPr bwMode="auto">
          <a:xfrm>
            <a:off x="7583000" y="4964409"/>
            <a:ext cx="4014217" cy="15189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zh-CN" sz="2400" b="1" dirty="0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Presented </a:t>
            </a:r>
            <a:r>
              <a:rPr lang="en-US" altLang="zh-CN" sz="2400" b="1" dirty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by: </a:t>
            </a:r>
            <a:r>
              <a:rPr lang="en-US" altLang="zh-CN" sz="2400" dirty="0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Junpeng Zhu    </a:t>
            </a:r>
            <a:r>
              <a:rPr lang="zh-CN" altLang="en-US" sz="2400" b="1" dirty="0" smtClean="0">
                <a:latin typeface="+mn-ea"/>
                <a:cs typeface="Times New Roman" panose="02020603050405020304" pitchFamily="18" charset="0"/>
              </a:rPr>
              <a:t>（朱君鹏）</a:t>
            </a:r>
            <a:endParaRPr lang="en-US" altLang="zh-CN" sz="2400" b="1" dirty="0" smtClean="0">
              <a:latin typeface="+mn-ea"/>
              <a:cs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US" altLang="zh-CN" sz="2400" b="1" dirty="0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Advisor:</a:t>
            </a:r>
            <a:r>
              <a:rPr lang="en-US" altLang="zh-CN" sz="2400" dirty="0" smtClean="0">
                <a:latin typeface="Times New Roman" panose="02020603050405020304" pitchFamily="18" charset="0"/>
                <a:ea typeface="Arial Unicode MS" panose="020B0604020202020204" pitchFamily="34" charset="-122"/>
                <a:cs typeface="Times New Roman" panose="02020603050405020304" pitchFamily="18" charset="0"/>
              </a:rPr>
              <a:t> Yin Qian</a:t>
            </a:r>
          </a:p>
          <a:p>
            <a:pPr>
              <a:spcBef>
                <a:spcPct val="0"/>
              </a:spcBef>
            </a:pPr>
            <a:r>
              <a:rPr lang="en-US" altLang="zh-CN" sz="2400" dirty="0" smtClean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Apr 3, 2019</a:t>
            </a:r>
            <a:endParaRPr lang="en-US" altLang="zh-CN" sz="2400" dirty="0"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</a:t>
            </a:fld>
            <a:endParaRPr lang="en-US" altLang="zh-CN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700855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Authors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64592" y="4075952"/>
            <a:ext cx="412767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Now: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Ph.D. Student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Virginia Tech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Interests: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High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Computing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Emerging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 Architectures: for example, GPGPUs, APUs,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etc.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Parallel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Models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Parallel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4185502" y="4080575"/>
            <a:ext cx="376129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Now: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Professor</a:t>
            </a:r>
            <a:endParaRPr lang="en-US" altLang="zh-CN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Virginia Tech, Alamos National Laboratory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Interests: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igh-performance networking Protocols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ynamic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multicore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scheduling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ccelerator-based computing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8065341" y="4080575"/>
            <a:ext cx="421895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Now: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Deputy Director at Argonne National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Laboratory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Educations: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Syracuse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University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Interests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US" altLang="zh-CN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perating systems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rchitecture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igh-performance and concurrent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</a:p>
        </p:txBody>
      </p:sp>
      <p:pic>
        <p:nvPicPr>
          <p:cNvPr id="9" name="内容占位符 8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14495" y="2030616"/>
            <a:ext cx="1570079" cy="1976323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4342" y="2047739"/>
            <a:ext cx="1283614" cy="195920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0644" y="1959457"/>
            <a:ext cx="1472654" cy="2047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4080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&amp; 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Study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770166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Graphics process units (GPUs) have widespread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as general-purpose computational processing units (GPUs) have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gained accelerators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have been studied extensively across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broad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range of scientific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 percent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today’s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500 fastest supercomputers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 November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2014)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 general-purpose accelerators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4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5039210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Hybrid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with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Message Passing Interface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(MPI) [5] and the Compute Unified Device Architecture (CUDA) [6] or Open Computing Language (OpenCL) [7] is the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dominant means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of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utilizing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clusters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 the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significant performance impacts in the architecture of MPI+GPU?</a:t>
            </a:r>
            <a:endParaRPr lang="en-US" altLang="zh-C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5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282379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&amp; 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Study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6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163365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Current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 programmers must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explicitly transfer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 between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 memory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the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memory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across </a:t>
            </a:r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MPI standard assumes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CPU-centric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single-memory model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Not handle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GPU memory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directly for the MPI programming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7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9819120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default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MPI+GPU programming model employs a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hybrid two-staged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movement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model, where data copies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are performed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between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(1)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main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the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GPU’s device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are preceded and/or followed by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(2)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MPI communication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between the host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the norm seen in most GPU-accelerated MPI applications today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two aspects in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theories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altLang="zh-CN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8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06508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内容占位符 1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193409" y="2224283"/>
            <a:ext cx="4572001" cy="3341675"/>
          </a:xfrm>
          <a:prstGeom prst="rect">
            <a:avLst/>
          </a:prstGeom>
        </p:spPr>
      </p:pic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9</a:t>
            </a:fld>
            <a:endParaRPr lang="en-US" altLang="zh-CN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802" y="2919790"/>
            <a:ext cx="5187015" cy="80476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656" y="4156202"/>
            <a:ext cx="3940404" cy="893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890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8" dur="1000" fill="hold"/>
                                        <p:tgtEl>
                                          <p:spTgt spid="2"/>
                                        </p:tgtEl>
                                      </p:cBhvr>
                                      <p:by x="25000" y="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frameworks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unified MPI data transmission interface for both host and GPU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memories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programmer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use </a:t>
            </a:r>
            <a:r>
              <a:rPr lang="en-US" altLang="zh-CN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either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CPU buffer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GPU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buffer directly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 parameter in MPI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routines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goal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decouple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complex, low-level,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GPU-specific data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movement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the application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logic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Enhancing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programmability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transparent architecture-specific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vendor-specific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performance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optimizations can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 provided within the MPI layer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10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225050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2145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1973984"/>
            <a:ext cx="10415016" cy="458383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Using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GPU-integrated MPI, programmers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need only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 write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kernels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regular host CPU codes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computation and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invoke the standard MPI functions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CPU-GPU data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without worrying about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complex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movement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optimizations of the diverse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accelerator technologies.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11</a:t>
            </a:fld>
            <a:endParaRPr lang="en-US" altLang="zh-CN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3"/>
          <a:srcRect r="1915" b="4724"/>
          <a:stretch/>
        </p:blipFill>
        <p:spPr>
          <a:xfrm>
            <a:off x="3983878" y="4778421"/>
            <a:ext cx="7244954" cy="1588047"/>
          </a:xfrm>
          <a:prstGeom prst="rect">
            <a:avLst/>
          </a:prstGeom>
        </p:spPr>
      </p:pic>
      <p:sp>
        <p:nvSpPr>
          <p:cNvPr id="4" name="云形 3"/>
          <p:cNvSpPr/>
          <p:nvPr/>
        </p:nvSpPr>
        <p:spPr>
          <a:xfrm>
            <a:off x="2309567" y="2290713"/>
            <a:ext cx="8012784" cy="3648174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7200" b="1" dirty="0" smtClean="0">
                <a:solidFill>
                  <a:srgbClr val="FF0000"/>
                </a:solidFill>
              </a:rPr>
              <a:t>Amazing Productivity!</a:t>
            </a:r>
            <a:endParaRPr lang="zh-CN" altLang="en-US" sz="7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7322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&amp; 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Case </a:t>
            </a: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Study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12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152167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13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dirty="0" smtClean="0"/>
              <a:t>Currently, In </a:t>
            </a:r>
            <a:r>
              <a:rPr lang="en-US" altLang="zh-CN" dirty="0"/>
              <a:t>an MPI communication call, the user </a:t>
            </a:r>
            <a:r>
              <a:rPr lang="en-US" altLang="zh-CN" dirty="0" smtClean="0"/>
              <a:t>passes </a:t>
            </a:r>
            <a:r>
              <a:rPr lang="en-US" altLang="zh-CN" dirty="0" smtClean="0">
                <a:solidFill>
                  <a:srgbClr val="FF0000"/>
                </a:solidFill>
              </a:rPr>
              <a:t>a </a:t>
            </a:r>
            <a:r>
              <a:rPr lang="en-US" altLang="zh-CN" dirty="0">
                <a:solidFill>
                  <a:srgbClr val="FF0000"/>
                </a:solidFill>
              </a:rPr>
              <a:t>void pointer</a:t>
            </a:r>
            <a:r>
              <a:rPr lang="en-US" altLang="zh-CN" dirty="0"/>
              <a:t> that indicates the location of the data </a:t>
            </a:r>
            <a:r>
              <a:rPr lang="en-US" altLang="zh-CN" dirty="0" smtClean="0"/>
              <a:t>on which </a:t>
            </a:r>
            <a:r>
              <a:rPr lang="en-US" altLang="zh-CN" dirty="0"/>
              <a:t>the user wishes to </a:t>
            </a:r>
            <a:r>
              <a:rPr lang="en-US" altLang="zh-CN" dirty="0" smtClean="0"/>
              <a:t>operate.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/>
              <a:t>In </a:t>
            </a:r>
            <a:r>
              <a:rPr lang="en-US" altLang="zh-CN" dirty="0"/>
              <a:t>other words, </a:t>
            </a:r>
            <a:r>
              <a:rPr lang="en-US" altLang="zh-CN" dirty="0" smtClean="0">
                <a:solidFill>
                  <a:srgbClr val="FF0000"/>
                </a:solidFill>
              </a:rPr>
              <a:t>a pointer </a:t>
            </a:r>
            <a:r>
              <a:rPr lang="en-US" altLang="zh-CN" dirty="0"/>
              <a:t>to </a:t>
            </a:r>
            <a:r>
              <a:rPr lang="en-US" altLang="zh-CN" dirty="0">
                <a:solidFill>
                  <a:srgbClr val="FF0000"/>
                </a:solidFill>
              </a:rPr>
              <a:t>host memory </a:t>
            </a:r>
            <a:r>
              <a:rPr lang="en-US" altLang="zh-CN" dirty="0"/>
              <a:t>is </a:t>
            </a:r>
            <a:r>
              <a:rPr lang="en-US" altLang="zh-CN" dirty="0">
                <a:solidFill>
                  <a:srgbClr val="FF0000"/>
                </a:solidFill>
              </a:rPr>
              <a:t>indistinguishable</a:t>
            </a:r>
            <a:r>
              <a:rPr lang="en-US" altLang="zh-CN" dirty="0"/>
              <a:t> from a </a:t>
            </a:r>
            <a:r>
              <a:rPr lang="en-US" altLang="zh-CN" dirty="0" smtClean="0"/>
              <a:t>pointer to </a:t>
            </a:r>
            <a:r>
              <a:rPr lang="en-US" altLang="zh-CN" dirty="0">
                <a:solidFill>
                  <a:srgbClr val="FF0000"/>
                </a:solidFill>
              </a:rPr>
              <a:t>GPU memory</a:t>
            </a:r>
            <a:r>
              <a:rPr lang="en-US" altLang="zh-CN" dirty="0" smtClean="0"/>
              <a:t>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CUDA memory </a:t>
            </a:r>
            <a:r>
              <a:rPr lang="en-US" altLang="zh-CN" dirty="0" smtClean="0"/>
              <a:t>buffers are </a:t>
            </a:r>
            <a:r>
              <a:rPr lang="en-US" altLang="zh-CN" dirty="0"/>
              <a:t>void pointers, but they cannot be dereferenced by </a:t>
            </a:r>
            <a:r>
              <a:rPr lang="en-US" altLang="zh-CN" dirty="0" smtClean="0"/>
              <a:t>the host </a:t>
            </a:r>
            <a:r>
              <a:rPr lang="en-US" altLang="zh-CN" dirty="0"/>
              <a:t>unless Unified Virtual Addressing is enabled. </a:t>
            </a:r>
            <a:br>
              <a:rPr lang="en-US" altLang="zh-CN" dirty="0"/>
            </a:b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55642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14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/>
              <a:t>MPI-ACC’s Datatype Attributes </a:t>
            </a:r>
            <a:r>
              <a:rPr lang="en-US" altLang="zh-CN" b="1" dirty="0" smtClean="0"/>
              <a:t>Approach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MPI </a:t>
            </a:r>
            <a:r>
              <a:rPr lang="en-US" altLang="zh-CN" dirty="0" smtClean="0"/>
              <a:t>datatypes are </a:t>
            </a:r>
            <a:r>
              <a:rPr lang="en-US" altLang="zh-CN" dirty="0"/>
              <a:t>used to specify the type and layout of buffers passed </a:t>
            </a:r>
            <a:r>
              <a:rPr lang="en-US" altLang="zh-CN" dirty="0" smtClean="0"/>
              <a:t>to the </a:t>
            </a:r>
            <a:r>
              <a:rPr lang="en-US" altLang="zh-CN" dirty="0"/>
              <a:t>MPI </a:t>
            </a:r>
            <a:r>
              <a:rPr lang="en-US" altLang="zh-CN" dirty="0" smtClean="0"/>
              <a:t>library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Once MPI-ACC has </a:t>
            </a:r>
            <a:r>
              <a:rPr lang="en-US" altLang="zh-CN" dirty="0">
                <a:solidFill>
                  <a:srgbClr val="FF0000"/>
                </a:solidFill>
              </a:rPr>
              <a:t>identified a device buffer</a:t>
            </a:r>
            <a:r>
              <a:rPr lang="en-US" altLang="zh-CN" dirty="0"/>
              <a:t>, it </a:t>
            </a:r>
            <a:r>
              <a:rPr lang="en-US" altLang="zh-CN" dirty="0" smtClean="0"/>
              <a:t>leverages </a:t>
            </a:r>
            <a:r>
              <a:rPr lang="en-US" altLang="zh-CN" dirty="0" err="1" smtClean="0"/>
              <a:t>PCIe</a:t>
            </a:r>
            <a:r>
              <a:rPr lang="en-US" altLang="zh-CN" dirty="0" smtClean="0"/>
              <a:t> </a:t>
            </a:r>
            <a:r>
              <a:rPr lang="en-US" altLang="zh-CN" dirty="0"/>
              <a:t>and network link parallelism to optimize the </a:t>
            </a:r>
            <a:r>
              <a:rPr lang="en-US" altLang="zh-CN" dirty="0" smtClean="0"/>
              <a:t>data transfer </a:t>
            </a:r>
            <a:r>
              <a:rPr lang="en-US" altLang="zh-CN" dirty="0"/>
              <a:t>via pipelining</a:t>
            </a:r>
            <a:br>
              <a:rPr lang="en-US" altLang="zh-CN" dirty="0"/>
            </a:b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599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Optimizations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15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/>
              <a:t>Data </a:t>
            </a:r>
            <a:r>
              <a:rPr lang="en-US" altLang="zh-CN" b="1" dirty="0" smtClean="0"/>
              <a:t>Pipelining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/>
              <a:t>The approach </a:t>
            </a:r>
            <a:r>
              <a:rPr lang="en-US" altLang="zh-CN" dirty="0" smtClean="0">
                <a:solidFill>
                  <a:srgbClr val="FF0000"/>
                </a:solidFill>
              </a:rPr>
              <a:t>hides </a:t>
            </a:r>
            <a:r>
              <a:rPr lang="en-US" altLang="zh-CN" dirty="0">
                <a:solidFill>
                  <a:srgbClr val="FF0000"/>
                </a:solidFill>
              </a:rPr>
              <a:t>the </a:t>
            </a:r>
            <a:r>
              <a:rPr lang="en-US" altLang="zh-CN" dirty="0" err="1">
                <a:solidFill>
                  <a:srgbClr val="FF0000"/>
                </a:solidFill>
              </a:rPr>
              <a:t>PCIe</a:t>
            </a:r>
            <a:r>
              <a:rPr lang="en-US" altLang="zh-CN" dirty="0">
                <a:solidFill>
                  <a:srgbClr val="FF0000"/>
                </a:solidFill>
              </a:rPr>
              <a:t> latency</a:t>
            </a:r>
            <a:r>
              <a:rPr lang="en-US" altLang="zh-CN" dirty="0"/>
              <a:t> between the CPU and GPU </a:t>
            </a:r>
            <a:r>
              <a:rPr lang="en-US" altLang="zh-CN" dirty="0" smtClean="0"/>
              <a:t>by </a:t>
            </a:r>
            <a:r>
              <a:rPr lang="en-US" altLang="zh-CN" dirty="0" smtClean="0">
                <a:solidFill>
                  <a:srgbClr val="FF0000"/>
                </a:solidFill>
              </a:rPr>
              <a:t>dividing </a:t>
            </a:r>
            <a:r>
              <a:rPr lang="en-US" altLang="zh-CN" dirty="0">
                <a:solidFill>
                  <a:srgbClr val="FF0000"/>
                </a:solidFill>
              </a:rPr>
              <a:t>the data into smaller chunks </a:t>
            </a:r>
            <a:r>
              <a:rPr lang="en-US" altLang="zh-CN" dirty="0"/>
              <a:t>and</a:t>
            </a:r>
            <a:r>
              <a:rPr lang="en-US" altLang="zh-CN" dirty="0">
                <a:solidFill>
                  <a:srgbClr val="FF0000"/>
                </a:solidFill>
              </a:rPr>
              <a:t> performing pipelined </a:t>
            </a:r>
            <a:r>
              <a:rPr lang="en-US" altLang="zh-CN" dirty="0"/>
              <a:t>data transfers between the GPU, the CPU, and the network</a:t>
            </a:r>
            <a:r>
              <a:rPr lang="en-US" altLang="zh-CN" dirty="0" smtClean="0"/>
              <a:t>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Invocation of </a:t>
            </a:r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MPI_Init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MPI_Finalize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creates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host-side buffer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 </a:t>
            </a:r>
            <a:r>
              <a:rPr lang="en-US" altLang="zh-CN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registered with the GPU driver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orchestrate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pipelined data movement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85626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Optimizations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16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Buffer Management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calculate the ideal pipeline packet size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8538" y="3348263"/>
            <a:ext cx="7404558" cy="2695722"/>
          </a:xfrm>
          <a:prstGeom prst="rect">
            <a:avLst/>
          </a:prstGeom>
        </p:spPr>
      </p:pic>
      <p:cxnSp>
        <p:nvCxnSpPr>
          <p:cNvPr id="6" name="直接箭头连接符 5"/>
          <p:cNvCxnSpPr/>
          <p:nvPr/>
        </p:nvCxnSpPr>
        <p:spPr>
          <a:xfrm>
            <a:off x="5514680" y="3582186"/>
            <a:ext cx="131976" cy="46191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/>
          <p:nvPr/>
        </p:nvCxnSpPr>
        <p:spPr>
          <a:xfrm flipV="1">
            <a:off x="4647414" y="5712643"/>
            <a:ext cx="603316" cy="41478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/>
          <p:cNvCxnSpPr/>
          <p:nvPr/>
        </p:nvCxnSpPr>
        <p:spPr>
          <a:xfrm flipH="1" flipV="1">
            <a:off x="7645138" y="4119141"/>
            <a:ext cx="103695" cy="66967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/>
          <p:nvPr/>
        </p:nvCxnSpPr>
        <p:spPr>
          <a:xfrm flipV="1">
            <a:off x="7034851" y="5716912"/>
            <a:ext cx="603316" cy="41478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圆角矩形 15"/>
          <p:cNvSpPr/>
          <p:nvPr/>
        </p:nvSpPr>
        <p:spPr>
          <a:xfrm>
            <a:off x="5250730" y="4911365"/>
            <a:ext cx="4355183" cy="46191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0451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&amp; 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Study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17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224450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Study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18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 smtClean="0"/>
              <a:t>Computational Epidemiology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The participating entities in GPU-</a:t>
            </a:r>
            <a:r>
              <a:rPr lang="en-US" altLang="zh-CN" dirty="0" err="1"/>
              <a:t>EpiSimdemics</a:t>
            </a:r>
            <a:r>
              <a:rPr lang="en-US" altLang="zh-CN" dirty="0"/>
              <a:t> </a:t>
            </a:r>
            <a:r>
              <a:rPr lang="en-US" altLang="zh-CN" dirty="0" smtClean="0"/>
              <a:t>are persons </a:t>
            </a:r>
            <a:r>
              <a:rPr lang="en-US" altLang="zh-CN" dirty="0"/>
              <a:t>and </a:t>
            </a:r>
            <a:r>
              <a:rPr lang="en-US" altLang="zh-CN" dirty="0" smtClean="0"/>
              <a:t>locations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The output of the simulation is the relevant disease </a:t>
            </a:r>
            <a:r>
              <a:rPr lang="en-US" altLang="zh-CN" dirty="0" smtClean="0"/>
              <a:t>statistics of </a:t>
            </a:r>
            <a:r>
              <a:rPr lang="en-US" altLang="zh-CN" dirty="0"/>
              <a:t>the contagion </a:t>
            </a:r>
            <a:r>
              <a:rPr lang="en-US" altLang="zh-CN" dirty="0" smtClean="0"/>
              <a:t>diffusion,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 smtClean="0"/>
              <a:t>such </a:t>
            </a:r>
            <a:r>
              <a:rPr lang="en-US" altLang="zh-CN" dirty="0"/>
              <a:t>as the total number </a:t>
            </a:r>
            <a:r>
              <a:rPr lang="en-US" altLang="zh-CN" dirty="0" smtClean="0"/>
              <a:t>of infected persons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 smtClean="0"/>
              <a:t>an </a:t>
            </a:r>
            <a:r>
              <a:rPr lang="en-US" altLang="zh-CN" dirty="0"/>
              <a:t>infection graph showing who </a:t>
            </a:r>
            <a:r>
              <a:rPr lang="en-US" altLang="zh-CN" dirty="0" smtClean="0"/>
              <a:t>infected whom </a:t>
            </a:r>
            <a:r>
              <a:rPr lang="en-US" altLang="zh-CN" dirty="0"/>
              <a:t>and the time and location of the infection.</a:t>
            </a: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3487894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Study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19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/>
              <a:t>GPU-</a:t>
            </a:r>
            <a:r>
              <a:rPr lang="en-US" altLang="zh-CN" b="1" dirty="0" err="1"/>
              <a:t>EpiSimdemics</a:t>
            </a:r>
            <a:r>
              <a:rPr lang="en-US" altLang="zh-CN" b="1" dirty="0"/>
              <a:t> consists of two </a:t>
            </a:r>
            <a:r>
              <a:rPr lang="en-US" altLang="zh-CN" b="1" dirty="0" smtClean="0"/>
              <a:t>phases</a:t>
            </a:r>
            <a:r>
              <a:rPr lang="zh-CN" altLang="en-US" b="1" dirty="0" smtClean="0"/>
              <a:t>：</a:t>
            </a:r>
            <a:endParaRPr lang="en-US" altLang="zh-CN" b="1" dirty="0" smtClean="0"/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 err="1"/>
              <a:t>computeVisits</a:t>
            </a:r>
            <a:r>
              <a:rPr lang="en-US" altLang="zh-CN" b="1" dirty="0"/>
              <a:t> </a:t>
            </a:r>
            <a:endParaRPr lang="en-US" altLang="zh-CN" b="1" dirty="0" smtClean="0"/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b="1" dirty="0"/>
              <a:t> </a:t>
            </a:r>
            <a:r>
              <a:rPr lang="en-US" altLang="zh-CN" dirty="0"/>
              <a:t>all the person objects of every </a:t>
            </a:r>
            <a:r>
              <a:rPr lang="en-US" altLang="zh-CN" dirty="0">
                <a:solidFill>
                  <a:srgbClr val="FF0000"/>
                </a:solidFill>
              </a:rPr>
              <a:t>processing </a:t>
            </a:r>
            <a:r>
              <a:rPr lang="en-US" altLang="zh-CN" dirty="0" smtClean="0">
                <a:solidFill>
                  <a:srgbClr val="FF0000"/>
                </a:solidFill>
              </a:rPr>
              <a:t>element (or </a:t>
            </a:r>
            <a:r>
              <a:rPr lang="en-US" altLang="zh-CN" dirty="0">
                <a:solidFill>
                  <a:srgbClr val="FF0000"/>
                </a:solidFill>
              </a:rPr>
              <a:t>PE) </a:t>
            </a:r>
            <a:r>
              <a:rPr lang="en-US" altLang="zh-CN" dirty="0"/>
              <a:t>first </a:t>
            </a:r>
            <a:r>
              <a:rPr lang="en-US" altLang="zh-CN" dirty="0">
                <a:solidFill>
                  <a:srgbClr val="FF0000"/>
                </a:solidFill>
              </a:rPr>
              <a:t>determine the schedules</a:t>
            </a:r>
            <a:r>
              <a:rPr lang="en-US" altLang="zh-CN" dirty="0"/>
              <a:t> for the current </a:t>
            </a:r>
            <a:r>
              <a:rPr lang="en-US" altLang="zh-CN" dirty="0" smtClean="0"/>
              <a:t>day, namely</a:t>
            </a:r>
            <a:r>
              <a:rPr lang="en-US" altLang="zh-CN" dirty="0"/>
              <a:t>, the locations to be visited and the duration of </a:t>
            </a:r>
            <a:r>
              <a:rPr lang="en-US" altLang="zh-CN" dirty="0" smtClean="0"/>
              <a:t>each visit.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/>
              <a:t> These visit messages are sent to the destination </a:t>
            </a:r>
            <a:r>
              <a:rPr lang="en-US" altLang="zh-CN" dirty="0" smtClean="0"/>
              <a:t>location’s host PE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2781" y="2695601"/>
            <a:ext cx="3036071" cy="2847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548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BFBFBF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BFBFBF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BFBFBF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BFBFBF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0" fill="hold"/>
                                        <p:tgtEl>
                                          <p:spTgt spid="6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Study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20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/>
              <a:t>GPU-</a:t>
            </a:r>
            <a:r>
              <a:rPr lang="en-US" altLang="zh-CN" b="1" dirty="0" err="1"/>
              <a:t>EpiSimdemics</a:t>
            </a:r>
            <a:r>
              <a:rPr lang="en-US" altLang="zh-CN" b="1" dirty="0"/>
              <a:t> consists of two </a:t>
            </a:r>
            <a:r>
              <a:rPr lang="en-US" altLang="zh-CN" b="1" dirty="0" smtClean="0"/>
              <a:t>phases</a:t>
            </a:r>
            <a:r>
              <a:rPr lang="zh-CN" altLang="en-US" b="1" dirty="0" smtClean="0"/>
              <a:t>：</a:t>
            </a:r>
            <a:endParaRPr lang="en-US" altLang="zh-CN" b="1" dirty="0" smtClean="0"/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 err="1"/>
              <a:t>computeInteractions</a:t>
            </a:r>
            <a:r>
              <a:rPr lang="en-US" altLang="zh-CN" b="1" dirty="0"/>
              <a:t> </a:t>
            </a:r>
            <a:endParaRPr lang="en-US" altLang="zh-CN" b="1" dirty="0" smtClean="0"/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b="1" dirty="0"/>
              <a:t> </a:t>
            </a:r>
            <a:r>
              <a:rPr lang="en-US" altLang="zh-CN" dirty="0" smtClean="0"/>
              <a:t>Each </a:t>
            </a:r>
            <a:r>
              <a:rPr lang="en-US" altLang="zh-CN" dirty="0"/>
              <a:t>PE first groups </a:t>
            </a:r>
            <a:r>
              <a:rPr lang="en-US" altLang="zh-CN" dirty="0" smtClean="0"/>
              <a:t>the received </a:t>
            </a:r>
            <a:r>
              <a:rPr lang="en-US" altLang="zh-CN" dirty="0"/>
              <a:t>visit messages by their target locations</a:t>
            </a:r>
            <a:r>
              <a:rPr lang="en-US" altLang="zh-CN" dirty="0" smtClean="0"/>
              <a:t>.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/>
              <a:t>Next, </a:t>
            </a:r>
            <a:r>
              <a:rPr lang="en-US" altLang="zh-CN" dirty="0" smtClean="0"/>
              <a:t>each PE </a:t>
            </a:r>
            <a:r>
              <a:rPr lang="en-US" altLang="zh-CN" dirty="0">
                <a:solidFill>
                  <a:srgbClr val="FF0000"/>
                </a:solidFill>
              </a:rPr>
              <a:t>computes the probability </a:t>
            </a:r>
            <a:r>
              <a:rPr lang="en-US" altLang="zh-CN" dirty="0"/>
              <a:t>of infection </a:t>
            </a:r>
            <a:r>
              <a:rPr lang="en-US" altLang="zh-CN" dirty="0" smtClean="0"/>
              <a:t>transmission between </a:t>
            </a:r>
            <a:r>
              <a:rPr lang="en-US" altLang="zh-CN" dirty="0"/>
              <a:t>every pair of spatially and temporally </a:t>
            </a:r>
            <a:r>
              <a:rPr lang="en-US" altLang="zh-CN" dirty="0" smtClean="0"/>
              <a:t>collocated people </a:t>
            </a:r>
            <a:r>
              <a:rPr lang="en-US" altLang="zh-CN" dirty="0"/>
              <a:t>in its local location </a:t>
            </a:r>
            <a:r>
              <a:rPr lang="en-US" altLang="zh-CN" dirty="0" smtClean="0"/>
              <a:t>objects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/>
              <a:t>The infection transmission function depends on </a:t>
            </a:r>
            <a:r>
              <a:rPr lang="en-US" altLang="zh-CN" dirty="0" smtClean="0"/>
              <a:t>the current </a:t>
            </a:r>
            <a:r>
              <a:rPr lang="en-US" altLang="zh-CN" dirty="0"/>
              <a:t>health states</a:t>
            </a:r>
            <a:endParaRPr lang="en-US" altLang="zh-CN" dirty="0" smtClean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764" y="3134705"/>
            <a:ext cx="3629025" cy="208597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1226" y="3144230"/>
            <a:ext cx="6115050" cy="207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194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Study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21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7"/>
            <a:ext cx="10972800" cy="3849688"/>
          </a:xfrm>
        </p:spPr>
        <p:txBody>
          <a:bodyPr/>
          <a:lstStyle/>
          <a:p>
            <a:r>
              <a:rPr lang="en-US" altLang="zh-CN" b="1" dirty="0"/>
              <a:t>MPI-ACC–enabled </a:t>
            </a:r>
            <a:r>
              <a:rPr lang="en-US" altLang="zh-CN" b="1" dirty="0" smtClean="0"/>
              <a:t>communication-computation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 smtClean="0"/>
              <a:t>MPI-ACC </a:t>
            </a:r>
            <a:r>
              <a:rPr lang="en-US" altLang="zh-CN" dirty="0"/>
              <a:t>handles both CPU and GPU buffers, </a:t>
            </a:r>
            <a:r>
              <a:rPr lang="en-US" altLang="zh-CN" dirty="0" smtClean="0"/>
              <a:t>in each </a:t>
            </a:r>
            <a:r>
              <a:rPr lang="en-US" altLang="zh-CN" dirty="0"/>
              <a:t>PE we </a:t>
            </a:r>
            <a:r>
              <a:rPr lang="en-US" altLang="zh-CN" dirty="0" err="1"/>
              <a:t>preallocate</a:t>
            </a:r>
            <a:r>
              <a:rPr lang="en-US" altLang="zh-CN" dirty="0"/>
              <a:t> persistent buffer fragments on the GPU and register them with the MPI library by </a:t>
            </a:r>
            <a:r>
              <a:rPr lang="en-US" altLang="zh-CN" dirty="0" smtClean="0"/>
              <a:t>using </a:t>
            </a:r>
            <a:r>
              <a:rPr lang="en-US" altLang="zh-CN" dirty="0" err="1" smtClean="0"/>
              <a:t>MPI_Recv_init</a:t>
            </a:r>
            <a:r>
              <a:rPr lang="en-US" altLang="zh-CN" dirty="0" smtClean="0"/>
              <a:t>.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fr-FR" altLang="zh-CN" dirty="0"/>
              <a:t> </a:t>
            </a:r>
            <a:r>
              <a:rPr lang="fr-FR" altLang="zh-CN" b="1" dirty="0"/>
              <a:t>GPU as MPI communication </a:t>
            </a:r>
            <a:r>
              <a:rPr lang="fr-FR" altLang="zh-CN" b="1" dirty="0" smtClean="0"/>
              <a:t>endpoints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dirty="0" smtClean="0"/>
              <a:t>The approach </a:t>
            </a:r>
            <a:r>
              <a:rPr lang="en-US" altLang="zh-CN" b="1" dirty="0" smtClean="0"/>
              <a:t>does </a:t>
            </a:r>
            <a:r>
              <a:rPr lang="en-US" altLang="zh-CN" b="1" dirty="0"/>
              <a:t>not require </a:t>
            </a:r>
            <a:r>
              <a:rPr lang="en-US" altLang="zh-CN" dirty="0"/>
              <a:t>a growing </a:t>
            </a:r>
            <a:r>
              <a:rPr lang="en-US" altLang="zh-CN" b="1" dirty="0"/>
              <a:t>pinned memory pool </a:t>
            </a:r>
            <a:r>
              <a:rPr lang="en-US" altLang="zh-CN" dirty="0"/>
              <a:t>on </a:t>
            </a:r>
            <a:r>
              <a:rPr lang="en-US" altLang="zh-CN" dirty="0" smtClean="0"/>
              <a:t>the host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en-US" altLang="zh-CN" b="1" dirty="0" smtClean="0"/>
              <a:t>Creating</a:t>
            </a:r>
            <a:r>
              <a:rPr lang="en-US" altLang="zh-CN" dirty="0" smtClean="0"/>
              <a:t> </a:t>
            </a:r>
            <a:r>
              <a:rPr lang="en-US" altLang="zh-CN" dirty="0"/>
              <a:t>the end-to-end communication-computation </a:t>
            </a:r>
            <a:r>
              <a:rPr lang="en-US" altLang="zh-CN" b="1" dirty="0"/>
              <a:t>pipeline</a:t>
            </a:r>
            <a:endParaRPr lang="en-US" altLang="zh-CN" b="1" dirty="0" smtClean="0"/>
          </a:p>
        </p:txBody>
      </p:sp>
    </p:spTree>
    <p:extLst>
      <p:ext uri="{BB962C8B-B14F-4D97-AF65-F5344CB8AC3E}">
        <p14:creationId xmlns:p14="http://schemas.microsoft.com/office/powerpoint/2010/main" val="9257315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Study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22</a:t>
            </a:fld>
            <a:endParaRPr lang="en-US" altLang="zh-CN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2933" y="2096666"/>
            <a:ext cx="6629400" cy="424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722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&amp; 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Study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533342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24</a:t>
            </a:fld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4417" y="2194296"/>
            <a:ext cx="10972800" cy="4289054"/>
          </a:xfrm>
        </p:spPr>
        <p:txBody>
          <a:bodyPr/>
          <a:lstStyle/>
          <a:p>
            <a:r>
              <a:rPr lang="en-US" altLang="zh-CN" b="1" dirty="0" smtClean="0"/>
              <a:t>Experiments Environments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 err="1"/>
              <a:t>HokieSpeed</a:t>
            </a:r>
            <a:r>
              <a:rPr lang="en-US" altLang="zh-CN" dirty="0"/>
              <a:t>, a state-</a:t>
            </a:r>
            <a:r>
              <a:rPr lang="en-US" altLang="zh-CN" dirty="0" err="1"/>
              <a:t>ofthe</a:t>
            </a:r>
            <a:r>
              <a:rPr lang="en-US" altLang="zh-CN" dirty="0"/>
              <a:t>-art, 212-teraflop </a:t>
            </a:r>
            <a:r>
              <a:rPr lang="en-US" altLang="zh-CN" b="1" dirty="0"/>
              <a:t>hybrid CPU-GPU </a:t>
            </a:r>
            <a:r>
              <a:rPr lang="en-US" altLang="zh-CN" dirty="0" smtClean="0">
                <a:solidFill>
                  <a:srgbClr val="FF0000"/>
                </a:solidFill>
              </a:rPr>
              <a:t>supercomputer</a:t>
            </a:r>
            <a:r>
              <a:rPr lang="en-US" altLang="zh-CN" dirty="0" smtClean="0"/>
              <a:t> housed </a:t>
            </a:r>
            <a:r>
              <a:rPr lang="en-US" altLang="zh-CN" dirty="0"/>
              <a:t>at Virginia </a:t>
            </a:r>
            <a:r>
              <a:rPr lang="en-US" altLang="zh-CN" dirty="0" smtClean="0"/>
              <a:t>Tech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/>
              <a:t>Each </a:t>
            </a:r>
            <a:r>
              <a:rPr lang="en-US" altLang="zh-CN" dirty="0" err="1"/>
              <a:t>HokieSpeed</a:t>
            </a:r>
            <a:r>
              <a:rPr lang="en-US" altLang="zh-CN" dirty="0"/>
              <a:t> node </a:t>
            </a:r>
            <a:r>
              <a:rPr lang="en-US" altLang="zh-CN" dirty="0" smtClean="0"/>
              <a:t>contains two </a:t>
            </a:r>
            <a:r>
              <a:rPr lang="en-US" altLang="zh-CN" dirty="0"/>
              <a:t>hex-core Intel Xeon E5645 CPUs running at 2.40 </a:t>
            </a:r>
            <a:r>
              <a:rPr lang="en-US" altLang="zh-CN" dirty="0" smtClean="0"/>
              <a:t>GHz and </a:t>
            </a:r>
            <a:r>
              <a:rPr lang="en-US" altLang="zh-CN" dirty="0"/>
              <a:t>two NVIDIA Tesla M2050 </a:t>
            </a:r>
            <a:r>
              <a:rPr lang="en-US" altLang="zh-CN" dirty="0" smtClean="0"/>
              <a:t>GPUs, all count 128 </a:t>
            </a:r>
            <a:r>
              <a:rPr lang="en-US" altLang="zh-CN" dirty="0" err="1"/>
              <a:t>HokieSpeed</a:t>
            </a:r>
            <a:r>
              <a:rPr lang="en-US" altLang="zh-CN" dirty="0"/>
              <a:t> </a:t>
            </a:r>
            <a:r>
              <a:rPr lang="en-US" altLang="zh-CN" dirty="0" smtClean="0"/>
              <a:t>nodes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b="1" dirty="0"/>
              <a:t>host </a:t>
            </a:r>
            <a:r>
              <a:rPr lang="en-US" altLang="zh-CN" b="1" dirty="0" smtClean="0"/>
              <a:t>memory </a:t>
            </a:r>
            <a:r>
              <a:rPr lang="en-US" altLang="zh-CN" dirty="0" smtClean="0"/>
              <a:t>capacity </a:t>
            </a:r>
            <a:r>
              <a:rPr lang="en-US" altLang="zh-CN" dirty="0"/>
              <a:t>is </a:t>
            </a:r>
            <a:r>
              <a:rPr lang="en-US" altLang="zh-CN" dirty="0">
                <a:solidFill>
                  <a:srgbClr val="FF0000"/>
                </a:solidFill>
              </a:rPr>
              <a:t>24 GB</a:t>
            </a:r>
            <a:r>
              <a:rPr lang="en-US" altLang="zh-CN" dirty="0"/>
              <a:t>, and each </a:t>
            </a:r>
            <a:r>
              <a:rPr lang="en-US" altLang="zh-CN" b="1" dirty="0"/>
              <a:t>GPU</a:t>
            </a:r>
            <a:r>
              <a:rPr lang="en-US" altLang="zh-CN" dirty="0"/>
              <a:t> has a </a:t>
            </a:r>
            <a:r>
              <a:rPr lang="en-US" altLang="zh-CN" dirty="0">
                <a:solidFill>
                  <a:srgbClr val="FF0000"/>
                </a:solidFill>
              </a:rPr>
              <a:t>3 GB </a:t>
            </a:r>
            <a:r>
              <a:rPr lang="en-US" altLang="zh-CN" dirty="0"/>
              <a:t>device </a:t>
            </a:r>
            <a:r>
              <a:rPr lang="en-US" altLang="zh-CN" dirty="0" smtClean="0"/>
              <a:t>memory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solidFill>
                  <a:srgbClr val="FF0000"/>
                </a:solidFill>
              </a:rPr>
              <a:t>CUDA v5.0 </a:t>
            </a:r>
            <a:r>
              <a:rPr lang="en-US" altLang="zh-CN" dirty="0"/>
              <a:t>and driver version 310.19 on </a:t>
            </a:r>
            <a:r>
              <a:rPr lang="en-US" altLang="zh-CN" dirty="0" smtClean="0"/>
              <a:t>latency </a:t>
            </a:r>
            <a:r>
              <a:rPr lang="en-US" altLang="zh-CN" dirty="0" err="1" smtClean="0"/>
              <a:t>microbenchmarks</a:t>
            </a: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0989703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849042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25</a:t>
            </a:fld>
            <a:endParaRPr lang="en-US" altLang="zh-CN" dirty="0"/>
          </a:p>
        </p:txBody>
      </p:sp>
      <p:pic>
        <p:nvPicPr>
          <p:cNvPr id="5" name="内容占位符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982392" y="2050232"/>
            <a:ext cx="6256849" cy="38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874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2047875"/>
            <a:ext cx="10696312" cy="4270629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basic MPI+GPU solution has preprocessing overhead but does not have significant memory management issues.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MPI+GPU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gains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hiding the preprocessing overhead, it loses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from either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nonscalable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pinned memory management or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poor programmer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productivity.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26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40230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2047875"/>
            <a:ext cx="10696312" cy="4270629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provides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more scalable solution by (1) automatically managing a fixed-size pinned buffer pool for pipelining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(2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creating buffer pools just once at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MPI_Init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destroying them at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MPI_Finalize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MPI-ACC thus gains from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both hiding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preprocessing overhead and efficient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pinned memory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management. 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27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1726488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内容占位符 1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758017" y="1875508"/>
            <a:ext cx="6705600" cy="4181475"/>
          </a:xfrm>
          <a:prstGeom prst="rect">
            <a:avLst/>
          </a:prstGeom>
        </p:spPr>
      </p:pic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28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129300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29</a:t>
            </a:fld>
            <a:endParaRPr lang="en-US" altLang="zh-CN" dirty="0"/>
          </a:p>
        </p:txBody>
      </p:sp>
      <p:pic>
        <p:nvPicPr>
          <p:cNvPr id="6" name="内容占位符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87708" y="2047875"/>
            <a:ext cx="5446218" cy="4350568"/>
          </a:xfrm>
          <a:prstGeom prst="rect">
            <a:avLst/>
          </a:prstGeom>
        </p:spPr>
      </p:pic>
      <p:grpSp>
        <p:nvGrpSpPr>
          <p:cNvPr id="7" name="组合 6"/>
          <p:cNvGrpSpPr/>
          <p:nvPr/>
        </p:nvGrpSpPr>
        <p:grpSpPr>
          <a:xfrm>
            <a:off x="8752417" y="2250831"/>
            <a:ext cx="2536906" cy="949569"/>
            <a:chOff x="8752417" y="2250831"/>
            <a:chExt cx="2536906" cy="949569"/>
          </a:xfrm>
        </p:grpSpPr>
        <p:sp>
          <p:nvSpPr>
            <p:cNvPr id="2" name="圆角矩形 1"/>
            <p:cNvSpPr/>
            <p:nvPr/>
          </p:nvSpPr>
          <p:spPr>
            <a:xfrm>
              <a:off x="9346223" y="2250831"/>
              <a:ext cx="1943100" cy="949569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rgbClr val="FF0000"/>
                  </a:solidFill>
                </a:rPr>
                <a:t>The larger data size, the little relative latency. </a:t>
              </a:r>
              <a:endParaRPr lang="zh-CN" altLang="en-US" dirty="0">
                <a:solidFill>
                  <a:srgbClr val="FF0000"/>
                </a:solidFill>
              </a:endParaRPr>
            </a:p>
          </p:txBody>
        </p:sp>
        <p:cxnSp>
          <p:nvCxnSpPr>
            <p:cNvPr id="4" name="直接箭头连接符 3"/>
            <p:cNvCxnSpPr/>
            <p:nvPr/>
          </p:nvCxnSpPr>
          <p:spPr>
            <a:xfrm flipV="1">
              <a:off x="8752417" y="2769577"/>
              <a:ext cx="461921" cy="140677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组合 8"/>
          <p:cNvGrpSpPr/>
          <p:nvPr/>
        </p:nvGrpSpPr>
        <p:grpSpPr>
          <a:xfrm>
            <a:off x="8752417" y="4468202"/>
            <a:ext cx="2703960" cy="949569"/>
            <a:chOff x="8752417" y="2250831"/>
            <a:chExt cx="2703960" cy="949569"/>
          </a:xfrm>
        </p:grpSpPr>
        <p:sp>
          <p:nvSpPr>
            <p:cNvPr id="10" name="圆角矩形 9"/>
            <p:cNvSpPr/>
            <p:nvPr/>
          </p:nvSpPr>
          <p:spPr>
            <a:xfrm>
              <a:off x="9346223" y="2250831"/>
              <a:ext cx="2110154" cy="949569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rgbClr val="FF0000"/>
                  </a:solidFill>
                </a:rPr>
                <a:t>The bandwidth is most largest among the four methods </a:t>
              </a:r>
              <a:endParaRPr lang="zh-CN" altLang="en-US" dirty="0">
                <a:solidFill>
                  <a:srgbClr val="FF0000"/>
                </a:solidFill>
              </a:endParaRPr>
            </a:p>
          </p:txBody>
        </p:sp>
        <p:cxnSp>
          <p:nvCxnSpPr>
            <p:cNvPr id="11" name="直接箭头连接符 10"/>
            <p:cNvCxnSpPr/>
            <p:nvPr/>
          </p:nvCxnSpPr>
          <p:spPr>
            <a:xfrm flipV="1">
              <a:off x="8752417" y="2769577"/>
              <a:ext cx="461921" cy="140677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1449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30</a:t>
            </a:fld>
            <a:endParaRPr lang="en-US" altLang="zh-CN" dirty="0"/>
          </a:p>
        </p:txBody>
      </p:sp>
      <p:pic>
        <p:nvPicPr>
          <p:cNvPr id="3" name="内容占位符 2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678073" y="2047875"/>
            <a:ext cx="4865487" cy="4285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6548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1143000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3889" y="2252091"/>
            <a:ext cx="8753856" cy="36366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 &amp;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Design &amp; Optimizations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Case Study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&amp; Evaluation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31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00609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1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1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1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1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D8D8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>
            <a:extLst>
              <a:ext uri="{FF2B5EF4-FFF2-40B4-BE49-F238E27FC236}">
                <a16:creationId xmlns="" xmlns:a16="http://schemas.microsoft.com/office/drawing/2014/main" id="{A237414D-C4E1-407F-9B0D-585D2D87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417" y="1109091"/>
            <a:ext cx="10972800" cy="938784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="" xmlns:a16="http://schemas.microsoft.com/office/drawing/2014/main" id="{3DFD56C3-3B63-4F4C-A455-80D220434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816" y="2047875"/>
            <a:ext cx="10696312" cy="4270629"/>
          </a:xfrm>
        </p:spPr>
        <p:txBody>
          <a:bodyPr/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introduced MPI-ACC, an integrated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extensible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 that allows end-to-end data movement in accelerator-connected systems. </a:t>
            </a:r>
            <a:endParaRPr lang="en-US" altLang="zh-C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 discussed MPI-ACC’s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design choices and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comprehensive set of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optimizations including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pipelining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altLang="zh-CN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buffer management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MPI-ACC naturally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express the communication target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without explicitly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treating the CPUs as communication </a:t>
            </a:r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relays.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32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24978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61CBCD-6AEA-4E03-89F5-67AC013F5D05}" type="slidenum">
              <a:rPr lang="en-US" altLang="zh-CN" smtClean="0"/>
              <a:pPr>
                <a:defRPr/>
              </a:pPr>
              <a:t>33</a:t>
            </a:fld>
            <a:endParaRPr lang="en-US" altLang="zh-CN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>
          <a:xfrm>
            <a:off x="1698628" y="2823231"/>
            <a:ext cx="8929115" cy="1550807"/>
          </a:xfrm>
        </p:spPr>
        <p:txBody>
          <a:bodyPr/>
          <a:lstStyle/>
          <a:p>
            <a:pPr marL="715963" indent="-715963">
              <a:buNone/>
            </a:pPr>
            <a:r>
              <a:rPr lang="en-US" altLang="zh-CN" sz="7200" b="1" dirty="0" smtClean="0"/>
              <a:t>Thanks &amp; Comments!</a:t>
            </a:r>
            <a:endParaRPr lang="zh-CN" altLang="en-US" sz="7200" b="1" dirty="0"/>
          </a:p>
        </p:txBody>
      </p:sp>
    </p:spTree>
    <p:extLst>
      <p:ext uri="{BB962C8B-B14F-4D97-AF65-F5344CB8AC3E}">
        <p14:creationId xmlns:p14="http://schemas.microsoft.com/office/powerpoint/2010/main" val="21979940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自定义 10">
      <a:majorFont>
        <a:latin typeface="Times New Roman"/>
        <a:ea typeface="宋体"/>
        <a:cs typeface=""/>
      </a:majorFont>
      <a:minorFont>
        <a:latin typeface="Times New Roman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1617</TotalTime>
  <Words>1308</Words>
  <Application>Microsoft Office PowerPoint</Application>
  <PresentationFormat>宽屏</PresentationFormat>
  <Paragraphs>219</Paragraphs>
  <Slides>33</Slides>
  <Notes>33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42" baseType="lpstr">
      <vt:lpstr>Arial Unicode MS</vt:lpstr>
      <vt:lpstr>等线</vt:lpstr>
      <vt:lpstr>楷体</vt:lpstr>
      <vt:lpstr>宋体</vt:lpstr>
      <vt:lpstr>微软雅黑</vt:lpstr>
      <vt:lpstr>Arial</vt:lpstr>
      <vt:lpstr>Times New Roman</vt:lpstr>
      <vt:lpstr>Wingdings</vt:lpstr>
      <vt:lpstr>默认设计模板</vt:lpstr>
      <vt:lpstr>MPI-ACC: Accelerator-Aware MPI  for Scientific Applications</vt:lpstr>
      <vt:lpstr>Authors</vt:lpstr>
      <vt:lpstr>OUTLINE</vt:lpstr>
      <vt:lpstr>Introduction</vt:lpstr>
      <vt:lpstr>Introduction</vt:lpstr>
      <vt:lpstr>OUTLINE</vt:lpstr>
      <vt:lpstr>Motivation &amp; Example</vt:lpstr>
      <vt:lpstr>Motivation &amp; Example</vt:lpstr>
      <vt:lpstr>Motivation &amp; Example</vt:lpstr>
      <vt:lpstr>Motivation &amp; Example</vt:lpstr>
      <vt:lpstr>Motivation &amp; Example</vt:lpstr>
      <vt:lpstr>OUTLINE</vt:lpstr>
      <vt:lpstr>MPI-ACC Design</vt:lpstr>
      <vt:lpstr>MPI-ACC Design</vt:lpstr>
      <vt:lpstr>MPI-ACC Optimizations</vt:lpstr>
      <vt:lpstr>MPI-ACC Optimizations</vt:lpstr>
      <vt:lpstr>OUTLINE</vt:lpstr>
      <vt:lpstr>Application Case Study</vt:lpstr>
      <vt:lpstr>Application Case Study</vt:lpstr>
      <vt:lpstr>Application Case Study</vt:lpstr>
      <vt:lpstr>Application Case Study</vt:lpstr>
      <vt:lpstr>Application Case Study</vt:lpstr>
      <vt:lpstr>OUTLINE</vt:lpstr>
      <vt:lpstr>Experiments &amp; Evaluation</vt:lpstr>
      <vt:lpstr>Experiments &amp; Evaluation</vt:lpstr>
      <vt:lpstr>Experiments &amp; Evaluation</vt:lpstr>
      <vt:lpstr>Experiments &amp; Evaluation</vt:lpstr>
      <vt:lpstr>Experiments &amp; Evaluation</vt:lpstr>
      <vt:lpstr>Experiments &amp; Evaluation</vt:lpstr>
      <vt:lpstr>Experiments &amp; Evaluation</vt:lpstr>
      <vt:lpstr>OUTLINE</vt:lpstr>
      <vt:lpstr>Conclusions</vt:lpstr>
      <vt:lpstr>PowerPoint 演示文稿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liushuai</dc:creator>
  <cp:lastModifiedBy>朱君鹏</cp:lastModifiedBy>
  <cp:revision>436</cp:revision>
  <dcterms:created xsi:type="dcterms:W3CDTF">2018-07-12T13:40:09Z</dcterms:created>
  <dcterms:modified xsi:type="dcterms:W3CDTF">2019-03-31T12:18:11Z</dcterms:modified>
</cp:coreProperties>
</file>