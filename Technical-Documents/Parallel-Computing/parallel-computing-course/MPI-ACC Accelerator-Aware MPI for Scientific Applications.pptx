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72" r:id="rId2"/>
    <p:sldId id="279" r:id="rId3"/>
    <p:sldId id="273" r:id="rId4"/>
    <p:sldId id="309" r:id="rId5"/>
    <p:sldId id="311" r:id="rId6"/>
    <p:sldId id="310" r:id="rId7"/>
    <p:sldId id="274" r:id="rId8"/>
    <p:sldId id="307" r:id="rId9"/>
    <p:sldId id="308" r:id="rId10"/>
    <p:sldId id="312" r:id="rId11"/>
    <p:sldId id="313" r:id="rId12"/>
    <p:sldId id="298" r:id="rId13"/>
    <p:sldId id="304" r:id="rId14"/>
    <p:sldId id="314" r:id="rId15"/>
    <p:sldId id="315" r:id="rId16"/>
    <p:sldId id="316" r:id="rId17"/>
    <p:sldId id="285" r:id="rId18"/>
    <p:sldId id="319" r:id="rId19"/>
    <p:sldId id="320" r:id="rId20"/>
    <p:sldId id="321" r:id="rId21"/>
    <p:sldId id="322" r:id="rId22"/>
    <p:sldId id="323" r:id="rId23"/>
    <p:sldId id="317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286" r:id="rId32"/>
    <p:sldId id="278" r:id="rId33"/>
    <p:sldId id="31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3084-53C3-4D41-9C09-AF8810E82D9D}" type="datetimeFigureOut">
              <a:rPr lang="zh-CN" altLang="en-US" smtClean="0"/>
              <a:t>2019/3/28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DB04C-407A-4E30-92AE-914D18A6A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33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2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93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48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084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422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677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25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882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663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965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1990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227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012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757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634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672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105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741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077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11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483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071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5866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1157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2807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185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466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3129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009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265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922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7528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xmlns="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xmlns="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xmlns="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95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58AFC1F-0EC5-49BF-9268-F0FEE4B6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411F25FC-AA7A-420B-9A3A-84ECEF401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92DDA44-EBAA-4B0D-B1AD-17FC12E24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A68DBD-F8D1-4CAE-ACF1-A66E61D864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A406CACD-345F-48D9-9536-018A85949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C1DA1-AEE0-4901-AC22-4AB8DF725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6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9C7DECC-98E6-4FD9-AAA2-12B4A61F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DFFF49D-5346-4472-B7B4-2B4B1207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AE54C17-8281-4CEE-80BD-30C4F7788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A5AD5C1-CA4D-49A1-9F23-7E56088191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9EA5E6E-1878-4876-87FC-34CF0D7DC1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52417" y="6483350"/>
            <a:ext cx="2844800" cy="476250"/>
          </a:xfrm>
          <a:ln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8890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66AC4-7745-487C-B77E-D7209402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0642504-C3D3-4FEB-932D-43E15242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FDDD93F-F324-4F9A-B9D4-6849A4C3D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8D17B65-E136-4CDA-8948-06EE82F4B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7125560-B1D6-4FEA-8C81-81F49D476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90072-98D8-4D19-A4FD-491B38D196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57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35DD831-5C92-41D8-B2A4-F735B96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0589EF3-2B1D-4F74-90F9-1600D88D2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31894757-41E5-4DC3-B486-BF0D8D2E3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0B46424-4DF5-42C6-BA6D-7A5F0843E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4C6D9C2-78B1-4830-B70B-68D245CB3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C8F0C60-8AC6-4F0E-B049-CFBBD7803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264D2-4548-4D70-BC8F-40E2B81C9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56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EAC2349-C79E-4DAD-A7EC-F121B92E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577C8D4-D6FA-4BC8-982E-A569EF34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C1BD52F-78B6-4701-9C21-05A4842E2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41B5E117-E18D-486E-BBF0-E55E36688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1A6184B9-916F-4A62-BB58-A9E17211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9BDEFA24-1BB9-4A63-BE04-B2CD6F8BC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291227B2-68B3-4699-A416-5C0E6B364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EC7A77C-9158-4F27-8F28-4C65512DA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D4226-8A00-4B13-8BD5-0BA02A062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42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BC76C51-0028-4F2D-A216-4D11F533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91CC3BF1-A404-4E2C-8AA3-99428C6F6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7D80654-FEB6-4772-9441-0475550AB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968FB6E6-FDEC-4041-BA77-FFA3A3FA2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31956-B08F-45CF-AAAE-D7110A88C1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21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6DC56CB5-95F7-41B4-8677-E12EBE1FB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B7F0A7C5-5870-4D46-AA35-704A0D3C8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11F62A78-2485-4514-AD6F-798D74A4E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DAE40-8A88-4776-8B63-952B7CED9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1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D92CCA-0140-4241-AF84-A0DFC0FC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149F413-03E0-42C8-96F2-A26C380E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80CED1CF-0137-4B94-B04B-8FDCB7C8B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3A028F8-90C5-4894-9D68-1F454A68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B6B0556-8025-49EB-A9D8-E82F10331C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7CC8F1-4BD0-4FEC-AECB-DEAE8BCBA2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04D73-BC72-44E2-82FB-E17267424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3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1EFFC16-3EB0-4FBB-96E7-A6D46DBE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5B422F93-2D7C-4C8D-98F2-E969A8987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6BF88C8-E1D1-4529-AA38-9722474E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A92ADD1-D1E1-4FA7-89F9-EAC168EC5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AC2AA6A-2DDF-4129-A813-17A48D5D6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FAB14F8-8064-48F6-8B6D-7491835317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6CFA7-5AB6-4D88-A282-6772FDB8DE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13EF4AD-90B9-4E2D-B48C-D5D41ADC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935463B-296C-4D20-B55D-237CE160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572E583-F505-4444-906F-8206A9EE7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9D895F1-9DF8-48A9-9C6A-3A7AC93DF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91603C0-AEEF-495C-84B8-A97B75DBD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8A9B0-097E-4ED5-BE94-BC7DEA001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73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5C3D78EF-5EF5-478D-8576-1606D3C2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1900" y="981075"/>
            <a:ext cx="2745317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DCD9F3D-20DB-4182-AD70-C533BC393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1" y="981075"/>
            <a:ext cx="8039100" cy="51450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0FCF88E-129A-43F9-90EC-1AB558A27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124BE14-18C5-46A6-8BD5-794314EF8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97D6CFD-B5D7-46E4-8617-4E9947427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DD5C8-B889-4127-8E1A-DA6BA84F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75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80EF2504-E3EA-4812-BCE9-548B5A526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981075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7E888592-4D67-4FDC-8ACC-8DD192CAF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276475"/>
            <a:ext cx="109728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40A3712E-94B2-46ED-881D-E1249EF279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26116D60-C064-41BB-B932-09348EA6EB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E6E49BE-DB26-4C77-94F7-5228E224DF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EB355C-F78B-412A-B99D-286EA36C1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001903" y="367546"/>
            <a:ext cx="723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MPI-ACC:</a:t>
            </a:r>
            <a:r>
              <a:rPr lang="en-US" altLang="zh-CN" baseline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Accelerator-Aware MPI for Scientific Applications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6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209675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MPI-ACC: Accelerator-Aware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MPI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93" y="2919949"/>
            <a:ext cx="11481847" cy="168975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Ashwin M.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Aji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Wu-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Feng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Rajeev Thakur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Virginia Tech, Alamos National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Laboratory, Argonne National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</a:p>
          <a:p>
            <a:pPr marL="1790700" indent="-179070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on Parallel and Distributed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ystems (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TPDS’16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CCF 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 txBox="1">
            <a:spLocks/>
          </p:cNvSpPr>
          <p:nvPr/>
        </p:nvSpPr>
        <p:spPr bwMode="auto">
          <a:xfrm>
            <a:off x="7583000" y="4964409"/>
            <a:ext cx="4014217" cy="1518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Presented </a:t>
            </a:r>
            <a:r>
              <a:rPr lang="en-US" altLang="zh-CN" sz="2400" b="1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by: 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Junpeng 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Zhu    </a:t>
            </a:r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（朱君鹏）</a:t>
            </a:r>
            <a:endParaRPr lang="en-US" altLang="zh-CN" sz="2400" b="1" dirty="0" smtClean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Advisor: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Yin Qian</a:t>
            </a:r>
          </a:p>
          <a:p>
            <a:pPr>
              <a:spcBef>
                <a:spcPct val="0"/>
              </a:spcBef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Apr 3, 2019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0085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4592" y="4075952"/>
            <a:ext cx="41276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Ph.D. 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Virginia Tech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Architectures: for example, GPGPUs, APUs,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85502" y="4080575"/>
            <a:ext cx="37612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Virginia Tech, Alamos National Laboratory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igh-performance networking Protocols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ynamic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multicore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ccelerator-based computing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065341" y="4080575"/>
            <a:ext cx="42189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Deputy Director at Argonne National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Syracuse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perating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rchitecture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igh-performance and concurrent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4495" y="2030616"/>
            <a:ext cx="1570079" cy="197632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342" y="2047739"/>
            <a:ext cx="1283614" cy="1959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0644" y="1959457"/>
            <a:ext cx="1472654" cy="204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0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 &amp; Optimizations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Case Studies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1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process units (GPUs) have widespread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as general-purpose computational processing units (GPUs) have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gained accelerators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have been studied extensively across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broad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of scientific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percent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today’s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500 fastest supercomputers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November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general-purpose accelerators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392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with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 Passing Interface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(MPI) [5] and the Compute Unified Device Architecture (CUDA) [6] or Open Computing Language (OpenCL) [7] is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means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utilizing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performance impacts in the architecture of MPI+GPU?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237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Optimizations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Case Studies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336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programmers must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explicitly transfer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between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memory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MPI standard assumes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CPU-centric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single-memory model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handle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GPU memory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for the MPI programming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191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MPI+GPU programming model employs a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two-staged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movement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where data copies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performed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GPU’s device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preceded and/or followed by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MPI communication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host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norm seen in most GPU-accelerated MPI applications today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two aspects in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650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3409" y="2224283"/>
            <a:ext cx="4572001" cy="334167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02" y="2919790"/>
            <a:ext cx="5187015" cy="8047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656" y="4156202"/>
            <a:ext cx="3940404" cy="89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9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MPI data transmission interface for both host and GPU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programmer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use 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CPU buffer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GPU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directly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parameter in MPI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decouple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complex, low-level,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GPU-specific data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application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programmability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architecture-specific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vendor-specific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 can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provided within the MPI layer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505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GPU-integrated MPI, programmers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only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write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kernels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host CPU codes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computation and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 the standard MPI functions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CPU-GPU data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worrying about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optimizations of the diverse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accelerator technologies.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r="1915" b="4724"/>
          <a:stretch/>
        </p:blipFill>
        <p:spPr>
          <a:xfrm>
            <a:off x="3983878" y="4778421"/>
            <a:ext cx="7244954" cy="1588047"/>
          </a:xfrm>
          <a:prstGeom prst="rect">
            <a:avLst/>
          </a:prstGeom>
        </p:spPr>
      </p:pic>
      <p:sp>
        <p:nvSpPr>
          <p:cNvPr id="4" name="云形 3"/>
          <p:cNvSpPr/>
          <p:nvPr/>
        </p:nvSpPr>
        <p:spPr>
          <a:xfrm>
            <a:off x="2309567" y="2290713"/>
            <a:ext cx="8012784" cy="364817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0" b="1" dirty="0" smtClean="0">
                <a:solidFill>
                  <a:srgbClr val="FF0000"/>
                </a:solidFill>
              </a:rPr>
              <a:t>Amazing Productivity!</a:t>
            </a:r>
            <a:endParaRPr lang="zh-CN" altLang="en-US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32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 &amp; Optimizations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21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 smtClean="0"/>
              <a:t>Currently, In </a:t>
            </a:r>
            <a:r>
              <a:rPr lang="en-US" altLang="zh-CN" dirty="0"/>
              <a:t>an MPI communication call, the user </a:t>
            </a:r>
            <a:r>
              <a:rPr lang="en-US" altLang="zh-CN" dirty="0" smtClean="0"/>
              <a:t>passes </a:t>
            </a:r>
            <a:r>
              <a:rPr lang="en-US" altLang="zh-CN" dirty="0" smtClean="0">
                <a:solidFill>
                  <a:srgbClr val="FF0000"/>
                </a:solidFill>
              </a:rPr>
              <a:t>a </a:t>
            </a:r>
            <a:r>
              <a:rPr lang="en-US" altLang="zh-CN" dirty="0">
                <a:solidFill>
                  <a:srgbClr val="FF0000"/>
                </a:solidFill>
              </a:rPr>
              <a:t>void pointer</a:t>
            </a:r>
            <a:r>
              <a:rPr lang="en-US" altLang="zh-CN" dirty="0"/>
              <a:t> that indicates the location of the data </a:t>
            </a:r>
            <a:r>
              <a:rPr lang="en-US" altLang="zh-CN" dirty="0" smtClean="0"/>
              <a:t>on which </a:t>
            </a:r>
            <a:r>
              <a:rPr lang="en-US" altLang="zh-CN" dirty="0"/>
              <a:t>the user wishes to </a:t>
            </a:r>
            <a:r>
              <a:rPr lang="en-US" altLang="zh-CN" dirty="0" smtClean="0"/>
              <a:t>operate.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In </a:t>
            </a:r>
            <a:r>
              <a:rPr lang="en-US" altLang="zh-CN" dirty="0"/>
              <a:t>other words, </a:t>
            </a:r>
            <a:r>
              <a:rPr lang="en-US" altLang="zh-CN" dirty="0" smtClean="0">
                <a:solidFill>
                  <a:srgbClr val="FF0000"/>
                </a:solidFill>
              </a:rPr>
              <a:t>a pointer </a:t>
            </a:r>
            <a:r>
              <a:rPr lang="en-US" altLang="zh-CN" dirty="0"/>
              <a:t>to </a:t>
            </a:r>
            <a:r>
              <a:rPr lang="en-US" altLang="zh-CN" dirty="0">
                <a:solidFill>
                  <a:srgbClr val="FF0000"/>
                </a:solidFill>
              </a:rPr>
              <a:t>host memory </a:t>
            </a:r>
            <a:r>
              <a:rPr lang="en-US" altLang="zh-CN" dirty="0"/>
              <a:t>is </a:t>
            </a:r>
            <a:r>
              <a:rPr lang="en-US" altLang="zh-CN" dirty="0">
                <a:solidFill>
                  <a:srgbClr val="FF0000"/>
                </a:solidFill>
              </a:rPr>
              <a:t>indistinguishable</a:t>
            </a:r>
            <a:r>
              <a:rPr lang="en-US" altLang="zh-CN" dirty="0"/>
              <a:t> from a </a:t>
            </a:r>
            <a:r>
              <a:rPr lang="en-US" altLang="zh-CN" dirty="0" smtClean="0"/>
              <a:t>pointer to </a:t>
            </a:r>
            <a:r>
              <a:rPr lang="en-US" altLang="zh-CN" dirty="0">
                <a:solidFill>
                  <a:srgbClr val="FF0000"/>
                </a:solidFill>
              </a:rPr>
              <a:t>GPU memory</a:t>
            </a:r>
            <a:r>
              <a:rPr lang="en-US" altLang="zh-CN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CUDA memory </a:t>
            </a:r>
            <a:r>
              <a:rPr lang="en-US" altLang="zh-CN" dirty="0" smtClean="0"/>
              <a:t>buffers are </a:t>
            </a:r>
            <a:r>
              <a:rPr lang="en-US" altLang="zh-CN" dirty="0"/>
              <a:t>void pointers, but they cannot be dereferenced by </a:t>
            </a:r>
            <a:r>
              <a:rPr lang="en-US" altLang="zh-CN" dirty="0" smtClean="0"/>
              <a:t>the host </a:t>
            </a:r>
            <a:r>
              <a:rPr lang="en-US" altLang="zh-CN" dirty="0"/>
              <a:t>unless Unified Virtual Addressing is enabled. </a:t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6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MPI-ACC’s Datatype Attributes </a:t>
            </a:r>
            <a:r>
              <a:rPr lang="en-US" altLang="zh-CN" b="1" dirty="0" smtClean="0"/>
              <a:t>Approach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MPI </a:t>
            </a:r>
            <a:r>
              <a:rPr lang="en-US" altLang="zh-CN" dirty="0" smtClean="0"/>
              <a:t>datatypes are </a:t>
            </a:r>
            <a:r>
              <a:rPr lang="en-US" altLang="zh-CN" dirty="0"/>
              <a:t>used to specify the type and layout of buffers passed </a:t>
            </a:r>
            <a:r>
              <a:rPr lang="en-US" altLang="zh-CN" dirty="0" smtClean="0"/>
              <a:t>to the </a:t>
            </a:r>
            <a:r>
              <a:rPr lang="en-US" altLang="zh-CN" dirty="0"/>
              <a:t>MPI </a:t>
            </a:r>
            <a:r>
              <a:rPr lang="en-US" altLang="zh-CN" dirty="0" smtClean="0"/>
              <a:t>library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Once MPI-ACC has </a:t>
            </a:r>
            <a:r>
              <a:rPr lang="en-US" altLang="zh-CN" dirty="0">
                <a:solidFill>
                  <a:srgbClr val="FF0000"/>
                </a:solidFill>
              </a:rPr>
              <a:t>identified a device buffer</a:t>
            </a:r>
            <a:r>
              <a:rPr lang="en-US" altLang="zh-CN" dirty="0"/>
              <a:t>, it </a:t>
            </a:r>
            <a:r>
              <a:rPr lang="en-US" altLang="zh-CN" dirty="0" smtClean="0"/>
              <a:t>leverages </a:t>
            </a:r>
            <a:r>
              <a:rPr lang="en-US" altLang="zh-CN" dirty="0" err="1" smtClean="0"/>
              <a:t>PCIe</a:t>
            </a:r>
            <a:r>
              <a:rPr lang="en-US" altLang="zh-CN" dirty="0" smtClean="0"/>
              <a:t> </a:t>
            </a:r>
            <a:r>
              <a:rPr lang="en-US" altLang="zh-CN" dirty="0"/>
              <a:t>and network link parallelism to optimize the </a:t>
            </a:r>
            <a:r>
              <a:rPr lang="en-US" altLang="zh-CN" dirty="0" smtClean="0"/>
              <a:t>data transfer </a:t>
            </a:r>
            <a:r>
              <a:rPr lang="en-US" altLang="zh-CN" dirty="0"/>
              <a:t>via pipelining</a:t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9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Optimizations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Data </a:t>
            </a:r>
            <a:r>
              <a:rPr lang="en-US" altLang="zh-CN" b="1" dirty="0" smtClean="0"/>
              <a:t>Pipelining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The approach </a:t>
            </a:r>
            <a:r>
              <a:rPr lang="en-US" altLang="zh-CN" dirty="0" smtClean="0">
                <a:solidFill>
                  <a:srgbClr val="FF0000"/>
                </a:solidFill>
              </a:rPr>
              <a:t>hides </a:t>
            </a:r>
            <a:r>
              <a:rPr lang="en-US" altLang="zh-CN" dirty="0">
                <a:solidFill>
                  <a:srgbClr val="FF0000"/>
                </a:solidFill>
              </a:rPr>
              <a:t>the </a:t>
            </a:r>
            <a:r>
              <a:rPr lang="en-US" altLang="zh-CN" dirty="0" err="1">
                <a:solidFill>
                  <a:srgbClr val="FF0000"/>
                </a:solidFill>
              </a:rPr>
              <a:t>PCIe</a:t>
            </a:r>
            <a:r>
              <a:rPr lang="en-US" altLang="zh-CN" dirty="0">
                <a:solidFill>
                  <a:srgbClr val="FF0000"/>
                </a:solidFill>
              </a:rPr>
              <a:t> latency</a:t>
            </a:r>
            <a:r>
              <a:rPr lang="en-US" altLang="zh-CN" dirty="0"/>
              <a:t> between the CPU and GPU </a:t>
            </a:r>
            <a:r>
              <a:rPr lang="en-US" altLang="zh-CN" dirty="0" smtClean="0"/>
              <a:t>by </a:t>
            </a:r>
            <a:r>
              <a:rPr lang="en-US" altLang="zh-CN" dirty="0" smtClean="0">
                <a:solidFill>
                  <a:srgbClr val="FF0000"/>
                </a:solidFill>
              </a:rPr>
              <a:t>dividing </a:t>
            </a:r>
            <a:r>
              <a:rPr lang="en-US" altLang="zh-CN" dirty="0">
                <a:solidFill>
                  <a:srgbClr val="FF0000"/>
                </a:solidFill>
              </a:rPr>
              <a:t>the data into smaller chunks </a:t>
            </a:r>
            <a:r>
              <a:rPr lang="en-US" altLang="zh-CN" dirty="0"/>
              <a:t>and</a:t>
            </a:r>
            <a:r>
              <a:rPr lang="en-US" altLang="zh-CN" dirty="0">
                <a:solidFill>
                  <a:srgbClr val="FF0000"/>
                </a:solidFill>
              </a:rPr>
              <a:t> performing pipelined </a:t>
            </a:r>
            <a:r>
              <a:rPr lang="en-US" altLang="zh-CN" dirty="0"/>
              <a:t>data transfers between the GPU, the CPU, and the network</a:t>
            </a:r>
            <a:r>
              <a:rPr lang="en-US" altLang="zh-CN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Invocation of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MPI_Init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MPI_Finalize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host-side buffer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registered with the GPU driver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pipelined data movement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6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Optimizations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the ideal pipeline packet size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538" y="3348263"/>
            <a:ext cx="7404558" cy="2695722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5514680" y="3582186"/>
            <a:ext cx="131976" cy="4619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4647414" y="5712643"/>
            <a:ext cx="603316" cy="4147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7645138" y="4119141"/>
            <a:ext cx="103695" cy="6696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034851" y="5716912"/>
            <a:ext cx="603316" cy="4147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5250730" y="4911365"/>
            <a:ext cx="4355183" cy="4619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45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 &amp; Optimizations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Case Studies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44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Case Studies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 smtClean="0"/>
              <a:t>Computational Epidemiology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The participating entities in GPU-</a:t>
            </a:r>
            <a:r>
              <a:rPr lang="en-US" altLang="zh-CN" dirty="0" err="1"/>
              <a:t>EpiSimdemics</a:t>
            </a:r>
            <a:r>
              <a:rPr lang="en-US" altLang="zh-CN" dirty="0"/>
              <a:t> </a:t>
            </a:r>
            <a:r>
              <a:rPr lang="en-US" altLang="zh-CN" dirty="0" smtClean="0"/>
              <a:t>are persons </a:t>
            </a:r>
            <a:r>
              <a:rPr lang="en-US" altLang="zh-CN" dirty="0"/>
              <a:t>and </a:t>
            </a:r>
            <a:r>
              <a:rPr lang="en-US" altLang="zh-CN" dirty="0" smtClean="0"/>
              <a:t>locations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The output of the simulation is the relevant disease </a:t>
            </a:r>
            <a:r>
              <a:rPr lang="en-US" altLang="zh-CN" dirty="0" smtClean="0"/>
              <a:t>statistics of </a:t>
            </a:r>
            <a:r>
              <a:rPr lang="en-US" altLang="zh-CN" dirty="0"/>
              <a:t>the contagion </a:t>
            </a:r>
            <a:r>
              <a:rPr lang="en-US" altLang="zh-CN" dirty="0" smtClean="0"/>
              <a:t>diffusion,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dirty="0" smtClean="0"/>
              <a:t>such </a:t>
            </a:r>
            <a:r>
              <a:rPr lang="en-US" altLang="zh-CN" dirty="0"/>
              <a:t>as the total number </a:t>
            </a:r>
            <a:r>
              <a:rPr lang="en-US" altLang="zh-CN" dirty="0" smtClean="0"/>
              <a:t>of infected persons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dirty="0" smtClean="0"/>
              <a:t>an </a:t>
            </a:r>
            <a:r>
              <a:rPr lang="en-US" altLang="zh-CN" dirty="0"/>
              <a:t>infection graph showing who </a:t>
            </a:r>
            <a:r>
              <a:rPr lang="en-US" altLang="zh-CN" dirty="0" smtClean="0"/>
              <a:t>infected whom </a:t>
            </a:r>
            <a:r>
              <a:rPr lang="en-US" altLang="zh-CN" dirty="0"/>
              <a:t>and the time and location of the infection.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8789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Case Studies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GPU-</a:t>
            </a:r>
            <a:r>
              <a:rPr lang="en-US" altLang="zh-CN" b="1" dirty="0" err="1"/>
              <a:t>EpiSimdemics</a:t>
            </a:r>
            <a:r>
              <a:rPr lang="en-US" altLang="zh-CN" b="1" dirty="0"/>
              <a:t> consists of two </a:t>
            </a:r>
            <a:r>
              <a:rPr lang="en-US" altLang="zh-CN" b="1" dirty="0" smtClean="0"/>
              <a:t>phases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 err="1"/>
              <a:t>computeVisits</a:t>
            </a:r>
            <a:r>
              <a:rPr lang="en-US" altLang="zh-CN" b="1" dirty="0"/>
              <a:t> </a:t>
            </a:r>
            <a:endParaRPr lang="en-US" altLang="zh-CN" b="1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b="1" dirty="0"/>
              <a:t> </a:t>
            </a:r>
            <a:r>
              <a:rPr lang="en-US" altLang="zh-CN" dirty="0"/>
              <a:t>all the person objects of every </a:t>
            </a:r>
            <a:r>
              <a:rPr lang="en-US" altLang="zh-CN" dirty="0">
                <a:solidFill>
                  <a:srgbClr val="FF0000"/>
                </a:solidFill>
              </a:rPr>
              <a:t>processing </a:t>
            </a:r>
            <a:r>
              <a:rPr lang="en-US" altLang="zh-CN" dirty="0" smtClean="0">
                <a:solidFill>
                  <a:srgbClr val="FF0000"/>
                </a:solidFill>
              </a:rPr>
              <a:t>element (or </a:t>
            </a:r>
            <a:r>
              <a:rPr lang="en-US" altLang="zh-CN" dirty="0">
                <a:solidFill>
                  <a:srgbClr val="FF0000"/>
                </a:solidFill>
              </a:rPr>
              <a:t>PE) </a:t>
            </a:r>
            <a:r>
              <a:rPr lang="en-US" altLang="zh-CN" dirty="0"/>
              <a:t>first </a:t>
            </a:r>
            <a:r>
              <a:rPr lang="en-US" altLang="zh-CN" dirty="0">
                <a:solidFill>
                  <a:srgbClr val="FF0000"/>
                </a:solidFill>
              </a:rPr>
              <a:t>determine the schedules</a:t>
            </a:r>
            <a:r>
              <a:rPr lang="en-US" altLang="zh-CN" dirty="0"/>
              <a:t> for the current </a:t>
            </a:r>
            <a:r>
              <a:rPr lang="en-US" altLang="zh-CN" dirty="0" smtClean="0"/>
              <a:t>day, namely</a:t>
            </a:r>
            <a:r>
              <a:rPr lang="en-US" altLang="zh-CN" dirty="0"/>
              <a:t>, the locations to be visited and the duration of </a:t>
            </a:r>
            <a:r>
              <a:rPr lang="en-US" altLang="zh-CN" dirty="0" smtClean="0"/>
              <a:t>each visit.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dirty="0"/>
              <a:t> These visit messages are sent to the destination </a:t>
            </a:r>
            <a:r>
              <a:rPr lang="en-US" altLang="zh-CN" dirty="0" smtClean="0"/>
              <a:t>location’s host PE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781" y="2695601"/>
            <a:ext cx="3036071" cy="284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4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Case Studies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GPU-</a:t>
            </a:r>
            <a:r>
              <a:rPr lang="en-US" altLang="zh-CN" b="1" dirty="0" err="1"/>
              <a:t>EpiSimdemics</a:t>
            </a:r>
            <a:r>
              <a:rPr lang="en-US" altLang="zh-CN" b="1" dirty="0"/>
              <a:t> consists of two </a:t>
            </a:r>
            <a:r>
              <a:rPr lang="en-US" altLang="zh-CN" b="1" dirty="0" smtClean="0"/>
              <a:t>phases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 err="1"/>
              <a:t>computeInteractions</a:t>
            </a:r>
            <a:r>
              <a:rPr lang="en-US" altLang="zh-CN" b="1" dirty="0"/>
              <a:t> </a:t>
            </a:r>
            <a:endParaRPr lang="en-US" altLang="zh-CN" b="1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b="1" dirty="0"/>
              <a:t> </a:t>
            </a:r>
            <a:r>
              <a:rPr lang="en-US" altLang="zh-CN" dirty="0" smtClean="0"/>
              <a:t>Each </a:t>
            </a:r>
            <a:r>
              <a:rPr lang="en-US" altLang="zh-CN" dirty="0"/>
              <a:t>PE first groups </a:t>
            </a:r>
            <a:r>
              <a:rPr lang="en-US" altLang="zh-CN" dirty="0" smtClean="0"/>
              <a:t>the received </a:t>
            </a:r>
            <a:r>
              <a:rPr lang="en-US" altLang="zh-CN" dirty="0"/>
              <a:t>visit messages by their target locations</a:t>
            </a:r>
            <a:r>
              <a:rPr lang="en-US" altLang="zh-CN" dirty="0" smtClean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dirty="0"/>
              <a:t>Next, </a:t>
            </a:r>
            <a:r>
              <a:rPr lang="en-US" altLang="zh-CN" dirty="0" smtClean="0"/>
              <a:t>each PE </a:t>
            </a:r>
            <a:r>
              <a:rPr lang="en-US" altLang="zh-CN" dirty="0">
                <a:solidFill>
                  <a:srgbClr val="FF0000"/>
                </a:solidFill>
              </a:rPr>
              <a:t>computes the probability </a:t>
            </a:r>
            <a:r>
              <a:rPr lang="en-US" altLang="zh-CN" dirty="0"/>
              <a:t>of infection </a:t>
            </a:r>
            <a:r>
              <a:rPr lang="en-US" altLang="zh-CN" dirty="0" smtClean="0"/>
              <a:t>transmission between </a:t>
            </a:r>
            <a:r>
              <a:rPr lang="en-US" altLang="zh-CN" dirty="0"/>
              <a:t>every pair of spatially and temporally </a:t>
            </a:r>
            <a:r>
              <a:rPr lang="en-US" altLang="zh-CN" dirty="0" smtClean="0"/>
              <a:t>collocated people </a:t>
            </a:r>
            <a:r>
              <a:rPr lang="en-US" altLang="zh-CN" dirty="0"/>
              <a:t>in its local location </a:t>
            </a:r>
            <a:r>
              <a:rPr lang="en-US" altLang="zh-CN" dirty="0" smtClean="0"/>
              <a:t>objects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dirty="0"/>
              <a:t>The infection transmission function depends on </a:t>
            </a:r>
            <a:r>
              <a:rPr lang="en-US" altLang="zh-CN" dirty="0" smtClean="0"/>
              <a:t>the current </a:t>
            </a:r>
            <a:r>
              <a:rPr lang="en-US" altLang="zh-CN" dirty="0"/>
              <a:t>health states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764" y="3134705"/>
            <a:ext cx="3629025" cy="2085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226" y="3144230"/>
            <a:ext cx="61150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9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Case Studies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/>
              <a:t>MPI-ACC–enabled </a:t>
            </a:r>
            <a:r>
              <a:rPr lang="en-US" altLang="zh-CN" b="1" dirty="0" smtClean="0"/>
              <a:t>communication-computation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MPI-ACC </a:t>
            </a:r>
            <a:r>
              <a:rPr lang="en-US" altLang="zh-CN" dirty="0"/>
              <a:t>handles both CPU and GPU buffers, </a:t>
            </a:r>
            <a:r>
              <a:rPr lang="en-US" altLang="zh-CN" dirty="0" smtClean="0"/>
              <a:t>in each </a:t>
            </a:r>
            <a:r>
              <a:rPr lang="en-US" altLang="zh-CN" dirty="0"/>
              <a:t>PE we </a:t>
            </a:r>
            <a:r>
              <a:rPr lang="en-US" altLang="zh-CN" dirty="0" err="1"/>
              <a:t>preallocate</a:t>
            </a:r>
            <a:r>
              <a:rPr lang="en-US" altLang="zh-CN" dirty="0"/>
              <a:t> persistent buffer fragments on the GPU and register them with the MPI library by </a:t>
            </a:r>
            <a:r>
              <a:rPr lang="en-US" altLang="zh-CN" dirty="0" smtClean="0"/>
              <a:t>using </a:t>
            </a:r>
            <a:r>
              <a:rPr lang="en-US" altLang="zh-CN" dirty="0" err="1" smtClean="0"/>
              <a:t>MPI_Recv_init</a:t>
            </a:r>
            <a:r>
              <a:rPr lang="en-US" altLang="zh-CN" dirty="0" smtClean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altLang="zh-CN" dirty="0"/>
              <a:t> </a:t>
            </a:r>
            <a:r>
              <a:rPr lang="fr-FR" altLang="zh-CN" b="1" dirty="0"/>
              <a:t>GPU as MPI communication </a:t>
            </a:r>
            <a:r>
              <a:rPr lang="fr-FR" altLang="zh-CN" b="1" dirty="0" smtClean="0"/>
              <a:t>endpoints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dirty="0" smtClean="0"/>
              <a:t>The approach </a:t>
            </a:r>
            <a:r>
              <a:rPr lang="en-US" altLang="zh-CN" b="1" dirty="0" smtClean="0"/>
              <a:t>does </a:t>
            </a:r>
            <a:r>
              <a:rPr lang="en-US" altLang="zh-CN" b="1" dirty="0"/>
              <a:t>not require </a:t>
            </a:r>
            <a:r>
              <a:rPr lang="en-US" altLang="zh-CN" dirty="0"/>
              <a:t>a growing </a:t>
            </a:r>
            <a:r>
              <a:rPr lang="en-US" altLang="zh-CN" b="1" dirty="0"/>
              <a:t>pinned memory pool </a:t>
            </a:r>
            <a:r>
              <a:rPr lang="en-US" altLang="zh-CN" dirty="0"/>
              <a:t>on </a:t>
            </a:r>
            <a:r>
              <a:rPr lang="en-US" altLang="zh-CN" dirty="0" smtClean="0"/>
              <a:t>the host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zh-CN" b="1" dirty="0" smtClean="0"/>
              <a:t>Creating</a:t>
            </a:r>
            <a:r>
              <a:rPr lang="en-US" altLang="zh-CN" dirty="0" smtClean="0"/>
              <a:t> </a:t>
            </a:r>
            <a:r>
              <a:rPr lang="en-US" altLang="zh-CN" dirty="0"/>
              <a:t>the end-to-end communication-computation </a:t>
            </a:r>
            <a:r>
              <a:rPr lang="en-US" altLang="zh-CN" b="1" dirty="0"/>
              <a:t>pipeline</a:t>
            </a:r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92573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Case Studies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933" y="2096666"/>
            <a:ext cx="66294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2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 &amp; Optimizations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Case Studies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33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6"/>
            <a:ext cx="10972800" cy="4289054"/>
          </a:xfrm>
        </p:spPr>
        <p:txBody>
          <a:bodyPr/>
          <a:lstStyle/>
          <a:p>
            <a:r>
              <a:rPr lang="en-US" altLang="zh-CN" b="1" dirty="0" smtClean="0"/>
              <a:t>Experiments Environments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 err="1"/>
              <a:t>HokieSpeed</a:t>
            </a:r>
            <a:r>
              <a:rPr lang="en-US" altLang="zh-CN" dirty="0"/>
              <a:t>, a state-</a:t>
            </a:r>
            <a:r>
              <a:rPr lang="en-US" altLang="zh-CN" dirty="0" err="1"/>
              <a:t>ofthe</a:t>
            </a:r>
            <a:r>
              <a:rPr lang="en-US" altLang="zh-CN" dirty="0"/>
              <a:t>-art, 212-teraflop </a:t>
            </a:r>
            <a:r>
              <a:rPr lang="en-US" altLang="zh-CN" b="1" dirty="0"/>
              <a:t>hybrid CPU-GPU </a:t>
            </a:r>
            <a:r>
              <a:rPr lang="en-US" altLang="zh-CN" dirty="0" smtClean="0">
                <a:solidFill>
                  <a:srgbClr val="FF0000"/>
                </a:solidFill>
              </a:rPr>
              <a:t>supercomputer</a:t>
            </a:r>
            <a:r>
              <a:rPr lang="en-US" altLang="zh-CN" dirty="0" smtClean="0"/>
              <a:t> housed </a:t>
            </a:r>
            <a:r>
              <a:rPr lang="en-US" altLang="zh-CN" dirty="0"/>
              <a:t>at Virginia </a:t>
            </a:r>
            <a:r>
              <a:rPr lang="en-US" altLang="zh-CN" dirty="0" smtClean="0"/>
              <a:t>Tech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Each </a:t>
            </a:r>
            <a:r>
              <a:rPr lang="en-US" altLang="zh-CN" dirty="0" err="1"/>
              <a:t>HokieSpeed</a:t>
            </a:r>
            <a:r>
              <a:rPr lang="en-US" altLang="zh-CN" dirty="0"/>
              <a:t> node </a:t>
            </a:r>
            <a:r>
              <a:rPr lang="en-US" altLang="zh-CN" dirty="0" smtClean="0"/>
              <a:t>contains two </a:t>
            </a:r>
            <a:r>
              <a:rPr lang="en-US" altLang="zh-CN" dirty="0"/>
              <a:t>hex-core Intel Xeon E5645 CPUs running at 2.40 </a:t>
            </a:r>
            <a:r>
              <a:rPr lang="en-US" altLang="zh-CN" dirty="0" smtClean="0"/>
              <a:t>GHz and </a:t>
            </a:r>
            <a:r>
              <a:rPr lang="en-US" altLang="zh-CN" dirty="0"/>
              <a:t>two NVIDIA Tesla M2050 </a:t>
            </a:r>
            <a:r>
              <a:rPr lang="en-US" altLang="zh-CN" dirty="0" smtClean="0"/>
              <a:t>GPUs, all count 128 </a:t>
            </a:r>
            <a:r>
              <a:rPr lang="en-US" altLang="zh-CN" dirty="0" err="1"/>
              <a:t>HokieSpeed</a:t>
            </a:r>
            <a:r>
              <a:rPr lang="en-US" altLang="zh-CN" dirty="0"/>
              <a:t> </a:t>
            </a:r>
            <a:r>
              <a:rPr lang="en-US" altLang="zh-CN" dirty="0" smtClean="0"/>
              <a:t>nodes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/>
              <a:t>host </a:t>
            </a:r>
            <a:r>
              <a:rPr lang="en-US" altLang="zh-CN" b="1" dirty="0" smtClean="0"/>
              <a:t>memory </a:t>
            </a:r>
            <a:r>
              <a:rPr lang="en-US" altLang="zh-CN" dirty="0" smtClean="0"/>
              <a:t>capacity </a:t>
            </a:r>
            <a:r>
              <a:rPr lang="en-US" altLang="zh-CN" dirty="0"/>
              <a:t>is </a:t>
            </a:r>
            <a:r>
              <a:rPr lang="en-US" altLang="zh-CN" dirty="0">
                <a:solidFill>
                  <a:srgbClr val="FF0000"/>
                </a:solidFill>
              </a:rPr>
              <a:t>24 GB</a:t>
            </a:r>
            <a:r>
              <a:rPr lang="en-US" altLang="zh-CN" dirty="0"/>
              <a:t>, and each </a:t>
            </a:r>
            <a:r>
              <a:rPr lang="en-US" altLang="zh-CN" b="1" dirty="0"/>
              <a:t>GPU</a:t>
            </a:r>
            <a:r>
              <a:rPr lang="en-US" altLang="zh-CN" dirty="0"/>
              <a:t> has a </a:t>
            </a:r>
            <a:r>
              <a:rPr lang="en-US" altLang="zh-CN" dirty="0">
                <a:solidFill>
                  <a:srgbClr val="FF0000"/>
                </a:solidFill>
              </a:rPr>
              <a:t>3 GB </a:t>
            </a:r>
            <a:r>
              <a:rPr lang="en-US" altLang="zh-CN" dirty="0"/>
              <a:t>device </a:t>
            </a:r>
            <a:r>
              <a:rPr lang="en-US" altLang="zh-CN" dirty="0" smtClean="0"/>
              <a:t>memory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CUDA v5.0 </a:t>
            </a:r>
            <a:r>
              <a:rPr lang="en-US" altLang="zh-CN" dirty="0"/>
              <a:t>and driver version 310.19 on </a:t>
            </a:r>
            <a:r>
              <a:rPr lang="en-US" altLang="zh-CN" dirty="0" smtClean="0"/>
              <a:t>latency </a:t>
            </a:r>
            <a:r>
              <a:rPr lang="en-US" altLang="zh-CN" dirty="0" err="1" smtClean="0"/>
              <a:t>microbenchmarks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9897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2392" y="2050232"/>
            <a:ext cx="6256849" cy="38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7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696312" cy="427062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MPI+GPU solution has preprocessing overhead but does not have significant memory management issues.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MPI+GPU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gains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hiding the preprocessing overhead, it loses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either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nonscalable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pinned memory management 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programmer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023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696312" cy="427062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provides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more scalable solution by (1) automatically managing a fixed-size pinned buffer pool for pipelining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(2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creating buffer pools just once at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MPI_Init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destroying them at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MPI_Finalize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MPI-ACC thus gains from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hiding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preprocessing overhead and efficient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pinned memory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264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58017" y="1875508"/>
            <a:ext cx="6705600" cy="418147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930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87708" y="2047875"/>
            <a:ext cx="5446218" cy="435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4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78073" y="2047875"/>
            <a:ext cx="4865487" cy="428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5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Design &amp; Optimizations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60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696312" cy="427062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MPI-ACC, an integrated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extensible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that allows end-to-end data movement in accelerator-connected systems.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discussed MPI-ACC’s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design choices 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set of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 including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pipelining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management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MPI-ACC naturally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the communication target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explicitly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treating the CPUs as communication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relays.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497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82636" y="2823231"/>
            <a:ext cx="10489785" cy="1550807"/>
          </a:xfrm>
        </p:spPr>
        <p:txBody>
          <a:bodyPr/>
          <a:lstStyle/>
          <a:p>
            <a:pPr marL="715963" indent="-715963">
              <a:buNone/>
            </a:pPr>
            <a:r>
              <a:rPr lang="en-US" altLang="zh-CN" sz="7200" b="1" dirty="0" smtClean="0"/>
              <a:t>Thank you &amp; Comments!</a:t>
            </a:r>
            <a:endParaRPr lang="zh-CN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19799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0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1287</Words>
  <Application>Microsoft Office PowerPoint</Application>
  <PresentationFormat>宽屏</PresentationFormat>
  <Paragraphs>216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Arial Unicode MS</vt:lpstr>
      <vt:lpstr>等线</vt:lpstr>
      <vt:lpstr>楷体</vt:lpstr>
      <vt:lpstr>宋体</vt:lpstr>
      <vt:lpstr>微软雅黑</vt:lpstr>
      <vt:lpstr>Arial</vt:lpstr>
      <vt:lpstr>Times New Roman</vt:lpstr>
      <vt:lpstr>Wingdings</vt:lpstr>
      <vt:lpstr>默认设计模板</vt:lpstr>
      <vt:lpstr>MPI-ACC: Accelerator-Aware MPI  for Scientific Applications</vt:lpstr>
      <vt:lpstr>Authors</vt:lpstr>
      <vt:lpstr>OUTLINE</vt:lpstr>
      <vt:lpstr>Introduction</vt:lpstr>
      <vt:lpstr>Introduction</vt:lpstr>
      <vt:lpstr>OUTLINE</vt:lpstr>
      <vt:lpstr>Motivation &amp; Example</vt:lpstr>
      <vt:lpstr>Motivation &amp; Example</vt:lpstr>
      <vt:lpstr>Motivation &amp; Example</vt:lpstr>
      <vt:lpstr>Motivation &amp; Example</vt:lpstr>
      <vt:lpstr>Motivation &amp; Example</vt:lpstr>
      <vt:lpstr>OUTLINE</vt:lpstr>
      <vt:lpstr>MPI-ACC Design</vt:lpstr>
      <vt:lpstr>MPI-ACC Design</vt:lpstr>
      <vt:lpstr>MPI-ACC Optimizations</vt:lpstr>
      <vt:lpstr>MPI-ACC Optimizations</vt:lpstr>
      <vt:lpstr>OUTLINE</vt:lpstr>
      <vt:lpstr>Applications Case Studies</vt:lpstr>
      <vt:lpstr>Applications Case Studies</vt:lpstr>
      <vt:lpstr>Applications Case Studies</vt:lpstr>
      <vt:lpstr>Application Case Studies</vt:lpstr>
      <vt:lpstr>Application Case Studies</vt:lpstr>
      <vt:lpstr>OUTLINE</vt:lpstr>
      <vt:lpstr>Experiments &amp; Evaluation</vt:lpstr>
      <vt:lpstr>Experiments &amp; Evaluation</vt:lpstr>
      <vt:lpstr>Experiments &amp; Evaluation</vt:lpstr>
      <vt:lpstr>Experiments &amp; Evaluation</vt:lpstr>
      <vt:lpstr>Experiments &amp; Evaluation</vt:lpstr>
      <vt:lpstr>Experiments &amp; Evaluation</vt:lpstr>
      <vt:lpstr>Experiments &amp; Evaluation</vt:lpstr>
      <vt:lpstr>OUTLINE</vt:lpstr>
      <vt:lpstr>Conclusions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liushuai</dc:creator>
  <cp:lastModifiedBy>朱君鹏</cp:lastModifiedBy>
  <cp:revision>418</cp:revision>
  <dcterms:created xsi:type="dcterms:W3CDTF">2018-07-12T13:40:09Z</dcterms:created>
  <dcterms:modified xsi:type="dcterms:W3CDTF">2019-03-28T06:02:12Z</dcterms:modified>
</cp:coreProperties>
</file>