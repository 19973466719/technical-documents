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72" r:id="rId2"/>
    <p:sldId id="279" r:id="rId3"/>
    <p:sldId id="273" r:id="rId4"/>
    <p:sldId id="309" r:id="rId5"/>
    <p:sldId id="334" r:id="rId6"/>
    <p:sldId id="346" r:id="rId7"/>
    <p:sldId id="347" r:id="rId8"/>
    <p:sldId id="298" r:id="rId9"/>
    <p:sldId id="304" r:id="rId10"/>
    <p:sldId id="336" r:id="rId11"/>
    <p:sldId id="348" r:id="rId12"/>
    <p:sldId id="285" r:id="rId13"/>
    <p:sldId id="319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17" r:id="rId26"/>
    <p:sldId id="324" r:id="rId27"/>
    <p:sldId id="360" r:id="rId28"/>
    <p:sldId id="361" r:id="rId29"/>
    <p:sldId id="362" r:id="rId30"/>
    <p:sldId id="363" r:id="rId31"/>
    <p:sldId id="286" r:id="rId32"/>
    <p:sldId id="278" r:id="rId33"/>
    <p:sldId id="31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3084-53C3-4D41-9C09-AF8810E82D9D}" type="datetimeFigureOut">
              <a:rPr lang="zh-CN" altLang="en-US" smtClean="0"/>
              <a:t>2019/6/16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DB04C-407A-4E30-92AE-914D18A6A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33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US" altLang="zh-C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2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93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48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084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116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606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51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227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012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595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57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105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741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665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782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373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604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026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640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711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5186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516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420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045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586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1157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5091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3971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808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4833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922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7528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95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58AFC1F-0EC5-49BF-9268-F0FEE4B6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411F25FC-AA7A-420B-9A3A-84ECEF401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92DDA44-EBAA-4B0D-B1AD-17FC12E24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A68DBD-F8D1-4CAE-ACF1-A66E61D864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A406CACD-345F-48D9-9536-018A85949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C1DA1-AEE0-4901-AC22-4AB8DF725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6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C7DECC-98E6-4FD9-AAA2-12B4A61F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DFFF49D-5346-4472-B7B4-2B4B1207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AE54C17-8281-4CEE-80BD-30C4F7788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A5AD5C1-CA4D-49A1-9F23-7E56088191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9EA5E6E-1878-4876-87FC-34CF0D7DC1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52417" y="6483350"/>
            <a:ext cx="2844800" cy="476250"/>
          </a:xfrm>
          <a:ln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8890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66AC4-7745-487C-B77E-D7209402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0642504-C3D3-4FEB-932D-43E15242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DDD93F-F324-4F9A-B9D4-6849A4C3D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8D17B65-E136-4CDA-8948-06EE82F4B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7125560-B1D6-4FEA-8C81-81F49D476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90072-98D8-4D19-A4FD-491B38D196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57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35DD831-5C92-41D8-B2A4-F735B96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0589EF3-2B1D-4F74-90F9-1600D88D2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31894757-41E5-4DC3-B486-BF0D8D2E3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B46424-4DF5-42C6-BA6D-7A5F0843E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4C6D9C2-78B1-4830-B70B-68D245CB3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C8F0C60-8AC6-4F0E-B049-CFBBD7803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264D2-4548-4D70-BC8F-40E2B81C9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56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EAC2349-C79E-4DAD-A7EC-F121B92E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577C8D4-D6FA-4BC8-982E-A569EF34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C1BD52F-78B6-4701-9C21-05A4842E2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1B5E117-E18D-486E-BBF0-E55E36688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1A6184B9-916F-4A62-BB58-A9E17211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9BDEFA24-1BB9-4A63-BE04-B2CD6F8BC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291227B2-68B3-4699-A416-5C0E6B364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EC7A77C-9158-4F27-8F28-4C65512DA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D4226-8A00-4B13-8BD5-0BA02A062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42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BC76C51-0028-4F2D-A216-4D11F533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91CC3BF1-A404-4E2C-8AA3-99428C6F6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7D80654-FEB6-4772-9441-0475550AB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968FB6E6-FDEC-4041-BA77-FFA3A3FA2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31956-B08F-45CF-AAAE-D7110A88C1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21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6DC56CB5-95F7-41B4-8677-E12EBE1FB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B7F0A7C5-5870-4D46-AA35-704A0D3C8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11F62A78-2485-4514-AD6F-798D74A4E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DAE40-8A88-4776-8B63-952B7CED9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1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D92CCA-0140-4241-AF84-A0DFC0FC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149F413-03E0-42C8-96F2-A26C380E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80CED1CF-0137-4B94-B04B-8FDCB7C8B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3A028F8-90C5-4894-9D68-1F454A68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B6B0556-8025-49EB-A9D8-E82F10331C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7CC8F1-4BD0-4FEC-AECB-DEAE8BCBA2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04D73-BC72-44E2-82FB-E17267424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3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1EFFC16-3EB0-4FBB-96E7-A6D46DBE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5B422F93-2D7C-4C8D-98F2-E969A8987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6BF88C8-E1D1-4529-AA38-9722474E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A92ADD1-D1E1-4FA7-89F9-EAC168EC5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C2AA6A-2DDF-4129-A813-17A48D5D6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FAB14F8-8064-48F6-8B6D-7491835317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6CFA7-5AB6-4D88-A282-6772FDB8DE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13EF4AD-90B9-4E2D-B48C-D5D41ADC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935463B-296C-4D20-B55D-237CE160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572E583-F505-4444-906F-8206A9EE7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D895F1-9DF8-48A9-9C6A-3A7AC93DF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91603C0-AEEF-495C-84B8-A97B75DBD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8A9B0-097E-4ED5-BE94-BC7DEA001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73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5C3D78EF-5EF5-478D-8576-1606D3C2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1900" y="981075"/>
            <a:ext cx="2745317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DCD9F3D-20DB-4182-AD70-C533BC393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1" y="981075"/>
            <a:ext cx="8039100" cy="51450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0FCF88E-129A-43F9-90EC-1AB558A27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124BE14-18C5-46A6-8BD5-794314EF8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97D6CFD-B5D7-46E4-8617-4E9947427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DD5C8-B889-4127-8E1A-DA6BA84F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75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80EF2504-E3EA-4812-BCE9-548B5A526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981075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7E888592-4D67-4FDC-8ACC-8DD192CAF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276475"/>
            <a:ext cx="109728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40A3712E-94B2-46ED-881D-E1249EF279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26116D60-C064-41BB-B932-09348EA6EB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E6E49BE-DB26-4C77-94F7-5228E224DF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EB355C-F78B-412A-B99D-286EA36C1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950564" y="367546"/>
            <a:ext cx="574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solidFill>
                  <a:schemeClr val="bg1"/>
                </a:solidFill>
              </a:rPr>
              <a:t>Grain Graphs: OpenMP Performance Analysis Made Easy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6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53" y="1032325"/>
            <a:ext cx="11103126" cy="171027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Graphs: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Analysis Made Easy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92" y="3007248"/>
            <a:ext cx="11481847" cy="169251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Ananya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Muddukrishna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Peter A.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Jonsson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Artur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Podobas</a:t>
            </a:r>
            <a:r>
              <a:rPr lang="en-US" altLang="zh-CN" sz="2400" dirty="0"/>
              <a:t>, Mats </a:t>
            </a:r>
            <a:r>
              <a:rPr lang="en-US" altLang="zh-CN" sz="2400" dirty="0" err="1"/>
              <a:t>Brorsson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 Royal Institute of Technology, SICS Swedish ICT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and Practice of Parallel Programming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(PPoPP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’16 CCF 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 txBox="1">
            <a:spLocks/>
          </p:cNvSpPr>
          <p:nvPr/>
        </p:nvSpPr>
        <p:spPr bwMode="auto">
          <a:xfrm>
            <a:off x="7583000" y="4832606"/>
            <a:ext cx="4014217" cy="1518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Presented </a:t>
            </a:r>
            <a:r>
              <a:rPr lang="en-US" altLang="zh-CN" sz="2400" b="1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by: 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Junpeng Zhu    </a:t>
            </a:r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（朱君鹏）</a:t>
            </a:r>
            <a:endParaRPr lang="en-US" altLang="zh-CN" sz="2400" b="1" dirty="0" smtClean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Advisor: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Yin Qian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June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6, 2019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0085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328" y="4006939"/>
            <a:ext cx="4127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Researcher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KTH-ICT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97998" y="4006939"/>
            <a:ext cx="37612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Postdoctoral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Tokyo Institute of Technology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Programming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 Programs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73049" y="4006939"/>
            <a:ext cx="42189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in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KTH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Educations: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Ph.D. , M.S.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Energy </a:t>
            </a:r>
            <a:r>
              <a:rPr lang="en-US" altLang="zh-CN" dirty="0"/>
              <a:t>aware computer </a:t>
            </a:r>
            <a:r>
              <a:rPr lang="en-US" altLang="zh-CN" dirty="0" smtClean="0"/>
              <a:t>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tool support for performance debugging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6569" y="2002123"/>
            <a:ext cx="1943100" cy="19716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145" y="2068798"/>
            <a:ext cx="1905000" cy="1905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496" y="2068798"/>
            <a:ext cx="1828801" cy="18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0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/>
              <a:t>Grain Graphs Structure and Metrics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1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21580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performance analysis tools visualize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system’s perspective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execution is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interleaved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other tasks in an unpredictable order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for-loops are similarly difficult to resolve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tools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visualize aggregate thread-level statistics such as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imbalance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zooming into a per-chunk granularity.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392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14546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runtime system/threads oriented visualization provides poor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problems with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execution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utilization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forcing average programmers to rely on experts or use tedious trial-and-error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tuning methods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performance.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059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0936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presents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new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method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visualizes grains –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performed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task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parallel for-loop chunk instance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highlights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such as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parallelism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inflation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parallelization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 at the grain level.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for-loop have been in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since version 1.0 and tasks were introduced in 2008 as fork-join programming constructs in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3.0.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761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25097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grain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quickly reveal performance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characterize in fine detail using existing visualizations in standard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programs, simplifying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average programmers to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 portable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 for poor performing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programs, reducing pressure on experts and removing the need for tedious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trialand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-error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tuning.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240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Grain Graphs Structure and Metrics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21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376.kdtree is a fork-join task-based program from SPEC </a:t>
            </a:r>
            <a:r>
              <a:rPr lang="en-US" altLang="zh-CN" dirty="0" smtClean="0"/>
              <a:t>OMP 2012 </a:t>
            </a:r>
            <a:r>
              <a:rPr lang="en-US" altLang="zh-CN" dirty="0"/>
              <a:t>that searches a k-d tree for neighboring points within a </a:t>
            </a:r>
            <a:r>
              <a:rPr lang="en-US" altLang="zh-CN" dirty="0" smtClean="0"/>
              <a:t>radius. 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552" y="3200401"/>
            <a:ext cx="4456530" cy="314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6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Grain graphs place parent and child grains in close </a:t>
            </a:r>
            <a:r>
              <a:rPr lang="en-US" altLang="zh-CN" dirty="0" smtClean="0"/>
              <a:t>proximity using </a:t>
            </a:r>
            <a:r>
              <a:rPr lang="en-US" altLang="zh-CN" dirty="0"/>
              <a:t>creation edges, without timing as a placement constraint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Inspecting </a:t>
            </a:r>
            <a:r>
              <a:rPr lang="en-US" altLang="zh-CN" dirty="0" err="1"/>
              <a:t>kdnode</a:t>
            </a:r>
            <a:r>
              <a:rPr lang="en-US" altLang="zh-CN" dirty="0"/>
              <a:t>::</a:t>
            </a:r>
            <a:r>
              <a:rPr lang="en-US" altLang="zh-CN" dirty="0" err="1"/>
              <a:t>sweeptree</a:t>
            </a:r>
            <a:r>
              <a:rPr lang="en-US" altLang="zh-CN" dirty="0"/>
              <a:t>(), the function that </a:t>
            </a:r>
            <a:r>
              <a:rPr lang="en-US" altLang="zh-CN" dirty="0" smtClean="0"/>
              <a:t>sweeps the </a:t>
            </a:r>
            <a:r>
              <a:rPr lang="en-US" altLang="zh-CN" dirty="0"/>
              <a:t>tree, shows that the depth is not incremented for recursive </a:t>
            </a:r>
            <a:r>
              <a:rPr lang="en-US" altLang="zh-CN" dirty="0" smtClean="0"/>
              <a:t>calls which </a:t>
            </a:r>
            <a:r>
              <a:rPr lang="en-US" altLang="zh-CN" dirty="0"/>
              <a:t>explains the large number (1488595) of tasks created for </a:t>
            </a:r>
            <a:r>
              <a:rPr lang="en-US" altLang="zh-CN" dirty="0" smtClean="0"/>
              <a:t>the SPEC </a:t>
            </a:r>
            <a:r>
              <a:rPr lang="en-US" altLang="zh-CN" dirty="0"/>
              <a:t>reference input.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84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Incrementing the depth for recursive </a:t>
            </a:r>
            <a:r>
              <a:rPr lang="en-US" altLang="zh-CN" dirty="0" smtClean="0"/>
              <a:t>calls and </a:t>
            </a:r>
            <a:r>
              <a:rPr lang="en-US" altLang="zh-CN" dirty="0"/>
              <a:t>separating the sweep cutoff from the original cutoff </a:t>
            </a:r>
            <a:r>
              <a:rPr lang="en-US" altLang="zh-CN" dirty="0" smtClean="0"/>
              <a:t>improves performance.</a:t>
            </a:r>
          </a:p>
          <a:p>
            <a:r>
              <a:rPr lang="en-US" altLang="zh-CN" dirty="0"/>
              <a:t>The ICC runtime system overcomes the faulty </a:t>
            </a:r>
            <a:r>
              <a:rPr lang="en-US" altLang="zh-CN" dirty="0" smtClean="0"/>
              <a:t>cutoff in </a:t>
            </a:r>
            <a:r>
              <a:rPr lang="en-US" altLang="zh-CN" dirty="0"/>
              <a:t>the original program and performs well by using an </a:t>
            </a:r>
            <a:r>
              <a:rPr lang="en-US" altLang="zh-CN" dirty="0" smtClean="0"/>
              <a:t>internal cutoff to </a:t>
            </a:r>
            <a:r>
              <a:rPr lang="en-US" altLang="zh-CN" dirty="0"/>
              <a:t>limit the number of the tasks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 missing depth increment escaped both the programmer </a:t>
            </a:r>
            <a:r>
              <a:rPr lang="en-US" altLang="zh-CN" dirty="0" smtClean="0"/>
              <a:t>and SPEC </a:t>
            </a:r>
            <a:r>
              <a:rPr lang="en-US" altLang="zh-CN" dirty="0"/>
              <a:t>quality control for over three years. Our method </a:t>
            </a:r>
            <a:r>
              <a:rPr lang="en-US" altLang="zh-CN" dirty="0" smtClean="0"/>
              <a:t>reveals </a:t>
            </a:r>
            <a:r>
              <a:rPr lang="en-US" altLang="zh-CN" dirty="0"/>
              <a:t>structural anomalies that can cripple performance.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63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Structure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44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/>
              <a:t>The grain graph is a directed acyclic graph (DAG) that </a:t>
            </a:r>
            <a:r>
              <a:rPr lang="en-US" altLang="zh-CN" dirty="0" smtClean="0"/>
              <a:t>captures the </a:t>
            </a:r>
            <a:r>
              <a:rPr lang="en-US" altLang="zh-CN" dirty="0"/>
              <a:t>order of creation and synchronization between grains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A </a:t>
            </a:r>
            <a:r>
              <a:rPr lang="en-US" altLang="zh-CN" dirty="0" smtClean="0"/>
              <a:t>grain denotes </a:t>
            </a:r>
            <a:r>
              <a:rPr lang="en-US" altLang="zh-CN" dirty="0"/>
              <a:t>the computation performed by a task or a parallel </a:t>
            </a:r>
            <a:r>
              <a:rPr lang="en-US" altLang="zh-CN" dirty="0" smtClean="0"/>
              <a:t>for-loop </a:t>
            </a:r>
            <a:r>
              <a:rPr lang="en-US" altLang="zh-CN" dirty="0"/>
              <a:t>chunk instance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 grain graph consists of five types of nodes – fragment, </a:t>
            </a:r>
            <a:r>
              <a:rPr lang="en-US" altLang="zh-CN" dirty="0" smtClean="0"/>
              <a:t>fork, join</a:t>
            </a:r>
            <a:r>
              <a:rPr lang="en-US" altLang="zh-CN" dirty="0"/>
              <a:t>, book-keeping nodes, and chunk nodes.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8789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Fragment nodes </a:t>
            </a:r>
            <a:r>
              <a:rPr lang="en-US" altLang="zh-CN" dirty="0"/>
              <a:t>denote the execution of a task between its creation </a:t>
            </a:r>
            <a:r>
              <a:rPr lang="en-US" altLang="zh-CN" dirty="0" smtClean="0"/>
              <a:t>and synchronization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b="1" dirty="0"/>
              <a:t>Green fork nodes </a:t>
            </a:r>
            <a:r>
              <a:rPr lang="en-US" altLang="zh-CN" dirty="0"/>
              <a:t>denote task </a:t>
            </a:r>
            <a:r>
              <a:rPr lang="en-US" altLang="zh-CN" dirty="0" smtClean="0"/>
              <a:t>creation and </a:t>
            </a:r>
            <a:r>
              <a:rPr lang="en-US" altLang="zh-CN" dirty="0"/>
              <a:t>orange join nodes denotes task synchronization</a:t>
            </a:r>
            <a:r>
              <a:rPr lang="en-US" altLang="zh-CN" dirty="0" smtClean="0"/>
              <a:t>.</a:t>
            </a:r>
          </a:p>
          <a:p>
            <a:r>
              <a:rPr lang="en-US" altLang="zh-CN" b="1" dirty="0" smtClean="0"/>
              <a:t>Book-keeping nodes </a:t>
            </a:r>
            <a:r>
              <a:rPr lang="en-US" altLang="zh-CN" dirty="0"/>
              <a:t>represent computation performed by threads to divide the iteration space and assign iterations to themselves in chunks.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8952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 smtClean="0"/>
              <a:t>Chunk nodes </a:t>
            </a:r>
            <a:r>
              <a:rPr lang="en-US" altLang="zh-CN" dirty="0"/>
              <a:t>denote computation performed by the set of iterations assigned to chunks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Fragment nodes, book-keeping nodes, and </a:t>
            </a:r>
            <a:r>
              <a:rPr lang="en-US" altLang="zh-CN" dirty="0" smtClean="0"/>
              <a:t>chunk nodes </a:t>
            </a:r>
            <a:r>
              <a:rPr lang="en-US" altLang="zh-CN" dirty="0"/>
              <a:t>are weighted with metrics measured during execution.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19253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20942" y="2086229"/>
            <a:ext cx="4179749" cy="42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9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/>
              <a:t>The grain graph has three types of control-flow edges – </a:t>
            </a:r>
            <a:r>
              <a:rPr lang="en-US" altLang="zh-CN" dirty="0" smtClean="0"/>
              <a:t>creation, synchronization </a:t>
            </a:r>
            <a:r>
              <a:rPr lang="en-US" altLang="zh-CN" dirty="0"/>
              <a:t>and continuation. </a:t>
            </a:r>
            <a:endParaRPr lang="en-US" altLang="zh-CN" dirty="0" smtClean="0"/>
          </a:p>
          <a:p>
            <a:r>
              <a:rPr lang="en-US" altLang="zh-CN" b="1" dirty="0"/>
              <a:t>Green creation edges </a:t>
            </a:r>
            <a:r>
              <a:rPr lang="en-US" altLang="zh-CN" dirty="0" smtClean="0"/>
              <a:t>connect a </a:t>
            </a:r>
            <a:r>
              <a:rPr lang="en-US" altLang="zh-CN" dirty="0"/>
              <a:t>fork node to the first fragment node of a child</a:t>
            </a:r>
            <a:r>
              <a:rPr lang="en-US" altLang="zh-CN" dirty="0" smtClean="0"/>
              <a:t>.</a:t>
            </a:r>
          </a:p>
          <a:p>
            <a:r>
              <a:rPr lang="en-US" altLang="zh-CN" b="1" dirty="0"/>
              <a:t>Orange </a:t>
            </a:r>
            <a:r>
              <a:rPr lang="en-US" altLang="zh-CN" b="1" dirty="0" smtClean="0"/>
              <a:t>join edges </a:t>
            </a:r>
            <a:r>
              <a:rPr lang="en-US" altLang="zh-CN" dirty="0"/>
              <a:t>connect the last fragment of children synchronizing with </a:t>
            </a:r>
            <a:r>
              <a:rPr lang="en-US" altLang="zh-CN" dirty="0" smtClean="0"/>
              <a:t>the parent</a:t>
            </a:r>
            <a:r>
              <a:rPr lang="en-US" altLang="zh-CN" dirty="0"/>
              <a:t>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3891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Black continuation edges</a:t>
            </a:r>
            <a:r>
              <a:rPr lang="en-US" altLang="zh-CN" dirty="0"/>
              <a:t> connect fragments to fork or </a:t>
            </a:r>
            <a:r>
              <a:rPr lang="en-US" altLang="zh-CN" dirty="0" smtClean="0"/>
              <a:t>join nodes </a:t>
            </a:r>
            <a:r>
              <a:rPr lang="en-US" altLang="zh-CN" dirty="0"/>
              <a:t>and denote continuation of execution after spawning </a:t>
            </a:r>
            <a:r>
              <a:rPr lang="en-US" altLang="zh-CN" dirty="0" smtClean="0"/>
              <a:t>children or </a:t>
            </a:r>
            <a:r>
              <a:rPr lang="en-US" altLang="zh-CN" dirty="0"/>
              <a:t>synchronizing with children.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9900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13839" y="2119054"/>
            <a:ext cx="4393956" cy="42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0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 smtClean="0"/>
              <a:t>Task-based </a:t>
            </a:r>
            <a:r>
              <a:rPr lang="en-US" altLang="zh-CN" dirty="0" err="1"/>
              <a:t>OpenMP</a:t>
            </a:r>
            <a:r>
              <a:rPr lang="en-US" altLang="zh-CN" dirty="0"/>
              <a:t> </a:t>
            </a:r>
            <a:r>
              <a:rPr lang="en-US" altLang="zh-CN" dirty="0" smtClean="0"/>
              <a:t>program. Task </a:t>
            </a:r>
            <a:r>
              <a:rPr lang="en-US" altLang="zh-CN" dirty="0"/>
              <a:t>foo creates tasks bar and </a:t>
            </a:r>
            <a:r>
              <a:rPr lang="en-US" altLang="zh-CN" dirty="0" err="1"/>
              <a:t>baz</a:t>
            </a:r>
            <a:r>
              <a:rPr lang="en-US" altLang="zh-CN" dirty="0"/>
              <a:t>, performs computation </a:t>
            </a:r>
            <a:r>
              <a:rPr lang="en-US" altLang="zh-CN" dirty="0" err="1"/>
              <a:t>inbetween</a:t>
            </a:r>
            <a:r>
              <a:rPr lang="en-US" altLang="zh-CN" dirty="0"/>
              <a:t> and synchronizes with the children tasks</a:t>
            </a:r>
            <a:r>
              <a:rPr lang="en-US" altLang="zh-CN" dirty="0" smtClean="0"/>
              <a:t>.</a:t>
            </a:r>
          </a:p>
          <a:p>
            <a:r>
              <a:rPr lang="en-US" altLang="zh-CN" dirty="0" err="1" smtClean="0"/>
              <a:t>OpenMP</a:t>
            </a:r>
            <a:r>
              <a:rPr lang="en-US" altLang="zh-CN" dirty="0" smtClean="0"/>
              <a:t> program </a:t>
            </a:r>
            <a:r>
              <a:rPr lang="en-US" altLang="zh-CN" dirty="0"/>
              <a:t>with parallel for-loop. Iteration space is divided into </a:t>
            </a:r>
            <a:r>
              <a:rPr lang="en-US" altLang="zh-CN" dirty="0" smtClean="0"/>
              <a:t>5 chunks </a:t>
            </a:r>
            <a:r>
              <a:rPr lang="en-US" altLang="zh-CN" dirty="0"/>
              <a:t>of size 4 and distributed evenly on two threads</a:t>
            </a:r>
            <a:r>
              <a:rPr lang="en-US" altLang="zh-CN" dirty="0" smtClean="0"/>
              <a:t>.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126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 smtClean="0"/>
              <a:t>Grain graph </a:t>
            </a:r>
            <a:r>
              <a:rPr lang="en-US" altLang="zh-CN" dirty="0"/>
              <a:t>captures task creation and synchronization during </a:t>
            </a:r>
            <a:r>
              <a:rPr lang="en-US" altLang="zh-CN" dirty="0" smtClean="0"/>
              <a:t>program execution</a:t>
            </a:r>
            <a:r>
              <a:rPr lang="en-US" altLang="zh-CN" dirty="0"/>
              <a:t>. Performance of individual task instances are </a:t>
            </a:r>
            <a:r>
              <a:rPr lang="en-US" altLang="zh-CN" dirty="0" smtClean="0"/>
              <a:t>visually encoded </a:t>
            </a:r>
            <a:r>
              <a:rPr lang="en-US" altLang="zh-CN" dirty="0"/>
              <a:t>so execution time is encoded as the length of </a:t>
            </a:r>
            <a:r>
              <a:rPr lang="en-US" altLang="zh-CN" dirty="0" smtClean="0"/>
              <a:t>fragments. Fragments </a:t>
            </a:r>
            <a:r>
              <a:rPr lang="en-US" altLang="zh-CN" dirty="0"/>
              <a:t>of foo are sequentially aligned and child fragments </a:t>
            </a:r>
            <a:r>
              <a:rPr lang="en-US" altLang="zh-CN" dirty="0" smtClean="0"/>
              <a:t>are drawn </a:t>
            </a:r>
            <a:r>
              <a:rPr lang="en-US" altLang="zh-CN" dirty="0"/>
              <a:t>local to the parent context to preserve the program perspective.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9016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Reductions group nodes to reduce the size of </a:t>
            </a:r>
            <a:r>
              <a:rPr lang="en-US" altLang="zh-CN" dirty="0" smtClean="0"/>
              <a:t>the graph </a:t>
            </a:r>
            <a:r>
              <a:rPr lang="en-US" altLang="zh-CN" dirty="0"/>
              <a:t>for quick rendering. Fragment reduction combines task </a:t>
            </a:r>
            <a:r>
              <a:rPr lang="en-US" altLang="zh-CN" dirty="0" smtClean="0"/>
              <a:t>fragments.</a:t>
            </a:r>
          </a:p>
          <a:p>
            <a:r>
              <a:rPr lang="en-US" altLang="zh-CN" dirty="0"/>
              <a:t>Problematic </a:t>
            </a:r>
            <a:r>
              <a:rPr lang="en-US" altLang="zh-CN" dirty="0" smtClean="0"/>
              <a:t>grains are </a:t>
            </a:r>
            <a:r>
              <a:rPr lang="en-US" altLang="zh-CN" dirty="0"/>
              <a:t>highlighted with a color that reflects severity and </a:t>
            </a:r>
            <a:r>
              <a:rPr lang="en-US" altLang="zh-CN" dirty="0" smtClean="0"/>
              <a:t>remaining elements </a:t>
            </a:r>
            <a:r>
              <a:rPr lang="en-US" altLang="zh-CN" dirty="0"/>
              <a:t>are dimmed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Execution of for-loop on two </a:t>
            </a:r>
            <a:r>
              <a:rPr lang="en-US" altLang="zh-CN" dirty="0" smtClean="0"/>
              <a:t>threads. Turquoise </a:t>
            </a:r>
            <a:r>
              <a:rPr lang="en-US" altLang="zh-CN" dirty="0"/>
              <a:t>nodes represent book-keeping for delivering chunks </a:t>
            </a:r>
            <a:r>
              <a:rPr lang="en-US" altLang="zh-CN" dirty="0" smtClean="0"/>
              <a:t>to threads</a:t>
            </a:r>
            <a:r>
              <a:rPr lang="en-US" altLang="zh-CN" dirty="0"/>
              <a:t>. Green rectangles show chunk execution labeled with the </a:t>
            </a:r>
            <a:r>
              <a:rPr lang="en-US" altLang="zh-CN" dirty="0" smtClean="0"/>
              <a:t>iteration range</a:t>
            </a:r>
            <a:r>
              <a:rPr lang="en-US" altLang="zh-CN" dirty="0"/>
              <a:t>. 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0136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b="1" dirty="0"/>
              <a:t>Parallel benefit: </a:t>
            </a:r>
            <a:r>
              <a:rPr lang="en-US" altLang="zh-CN" dirty="0"/>
              <a:t>is a grain’s execution time divided by the parallelization costs borne by the grain’s parent</a:t>
            </a:r>
            <a:r>
              <a:rPr lang="en-US" altLang="zh-CN" dirty="0" smtClean="0"/>
              <a:t>.</a:t>
            </a:r>
          </a:p>
          <a:p>
            <a:r>
              <a:rPr lang="en-US" altLang="zh-CN" b="1" dirty="0"/>
              <a:t>Load balance:  </a:t>
            </a:r>
            <a:r>
              <a:rPr lang="en-US" altLang="zh-CN" dirty="0"/>
              <a:t>is the ratio between the length of the longest </a:t>
            </a:r>
            <a:r>
              <a:rPr lang="en-US" altLang="zh-CN" dirty="0" smtClean="0"/>
              <a:t>grain and </a:t>
            </a:r>
            <a:r>
              <a:rPr lang="en-US" altLang="zh-CN" dirty="0"/>
              <a:t>the median length of all chains of consecutive grains in </a:t>
            </a:r>
            <a:r>
              <a:rPr lang="en-US" altLang="zh-CN" dirty="0" smtClean="0"/>
              <a:t>the unreduced </a:t>
            </a:r>
            <a:r>
              <a:rPr lang="en-US" altLang="zh-CN" dirty="0"/>
              <a:t>graph. </a:t>
            </a:r>
            <a:endParaRPr lang="en-US" altLang="zh-CN" dirty="0" smtClean="0"/>
          </a:p>
          <a:p>
            <a:r>
              <a:rPr lang="en-US" altLang="zh-CN" b="1" dirty="0"/>
              <a:t>Work deviation: </a:t>
            </a:r>
            <a:r>
              <a:rPr lang="en-US" altLang="zh-CN" dirty="0"/>
              <a:t>is the change in execution time between </a:t>
            </a:r>
            <a:r>
              <a:rPr lang="en-US" altLang="zh-CN" dirty="0" smtClean="0"/>
              <a:t>single core </a:t>
            </a:r>
            <a:r>
              <a:rPr lang="en-US" altLang="zh-CN" dirty="0"/>
              <a:t>and multicore grain execution.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7871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Graphs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b="1" dirty="0"/>
              <a:t>Instantaneous parallelism: </a:t>
            </a:r>
            <a:r>
              <a:rPr lang="en-US" altLang="zh-CN" dirty="0"/>
              <a:t>is parallelism exposed by the program at different times during execution. </a:t>
            </a:r>
            <a:endParaRPr lang="en-US" altLang="zh-CN" dirty="0" smtClean="0"/>
          </a:p>
          <a:p>
            <a:r>
              <a:rPr lang="en-US" altLang="zh-CN" b="1" dirty="0"/>
              <a:t>Scatter:</a:t>
            </a:r>
            <a:r>
              <a:rPr lang="en-US" altLang="zh-CN" dirty="0"/>
              <a:t> is the median pair-wise distance in the system </a:t>
            </a:r>
            <a:r>
              <a:rPr lang="en-US" altLang="zh-CN" dirty="0" smtClean="0"/>
              <a:t>topology between </a:t>
            </a:r>
            <a:r>
              <a:rPr lang="en-US" altLang="zh-CN" dirty="0"/>
              <a:t>cores executing sibling grains.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3539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Grain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Grain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Structure and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33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8756" y="2357207"/>
            <a:ext cx="5644122" cy="412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7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3"/>
          </a:xfrm>
        </p:spPr>
        <p:txBody>
          <a:bodyPr/>
          <a:lstStyle/>
          <a:p>
            <a:r>
              <a:rPr lang="en-US" altLang="zh-CN" dirty="0"/>
              <a:t>Sort has additional problems that can be seen on the grain </a:t>
            </a:r>
            <a:r>
              <a:rPr lang="en-US" altLang="zh-CN" dirty="0" smtClean="0"/>
              <a:t>graph in </a:t>
            </a:r>
            <a:r>
              <a:rPr lang="en-US" altLang="zh-CN" dirty="0"/>
              <a:t>a mutually exclusive manner. We summarize the problems </a:t>
            </a:r>
            <a:r>
              <a:rPr lang="en-US" altLang="zh-CN" dirty="0" smtClean="0"/>
              <a:t>and optimization </a:t>
            </a:r>
            <a:r>
              <a:rPr lang="en-US" altLang="zh-CN" dirty="0"/>
              <a:t>results in the table below for space reasons</a:t>
            </a:r>
            <a:r>
              <a:rPr lang="en-US" altLang="zh-CN" dirty="0" smtClean="0"/>
              <a:t>:</a:t>
            </a:r>
          </a:p>
          <a:p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32" y="3973390"/>
            <a:ext cx="8795970" cy="175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6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8739" y="2215661"/>
            <a:ext cx="8144156" cy="345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5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292" y="2643933"/>
            <a:ext cx="11123050" cy="226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5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8515" y="2268414"/>
            <a:ext cx="8347196" cy="369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5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for Grain 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Grain Graphs Structure and </a:t>
            </a:r>
            <a:r>
              <a:rPr lang="en-US" altLang="zh-CN" b="1" dirty="0" smtClean="0"/>
              <a:t>Metric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60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696312" cy="427062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Grain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are independent of profiling method and can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adopted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depict any control-flow that creates 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synchronizes asynchronously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explicit, implicit or conceptual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tasks.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graphs have long rendering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times, which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scalability issue since programmer work flow is iterative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497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698628" y="2823231"/>
            <a:ext cx="8929115" cy="1550807"/>
          </a:xfrm>
        </p:spPr>
        <p:txBody>
          <a:bodyPr/>
          <a:lstStyle/>
          <a:p>
            <a:pPr marL="715963" indent="-715963">
              <a:buNone/>
            </a:pPr>
            <a:r>
              <a:rPr lang="en-US" altLang="zh-CN" sz="7200" b="1" dirty="0" smtClean="0"/>
              <a:t>Thanks &amp; Comments!</a:t>
            </a:r>
            <a:endParaRPr lang="zh-CN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19799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0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7172</TotalTime>
  <Words>1262</Words>
  <Application>Microsoft Office PowerPoint</Application>
  <PresentationFormat>宽屏</PresentationFormat>
  <Paragraphs>185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Arial Unicode MS</vt:lpstr>
      <vt:lpstr>等线</vt:lpstr>
      <vt:lpstr>楷体</vt:lpstr>
      <vt:lpstr>宋体</vt:lpstr>
      <vt:lpstr>微软雅黑</vt:lpstr>
      <vt:lpstr>Arial</vt:lpstr>
      <vt:lpstr>Times New Roman</vt:lpstr>
      <vt:lpstr>Wingdings</vt:lpstr>
      <vt:lpstr>默认设计模板</vt:lpstr>
      <vt:lpstr>Grain Graphs: OpenMP Performance Analysis Made Easy</vt:lpstr>
      <vt:lpstr>Authors</vt:lpstr>
      <vt:lpstr>OUTLINE</vt:lpstr>
      <vt:lpstr>Introduction</vt:lpstr>
      <vt:lpstr>Introduction</vt:lpstr>
      <vt:lpstr>Introduction</vt:lpstr>
      <vt:lpstr>Introduction</vt:lpstr>
      <vt:lpstr>OUTLINE</vt:lpstr>
      <vt:lpstr>Needs for Grain Graphs</vt:lpstr>
      <vt:lpstr>Needs for Grain Graphs</vt:lpstr>
      <vt:lpstr>Needs for Grain Graphs</vt:lpstr>
      <vt:lpstr>OUTLINE</vt:lpstr>
      <vt:lpstr>Grain Graphs Structure</vt:lpstr>
      <vt:lpstr>Grain Graphs Structure</vt:lpstr>
      <vt:lpstr>Grain Graphs Structure</vt:lpstr>
      <vt:lpstr>Grain Graphs Structure</vt:lpstr>
      <vt:lpstr>Grain Graphs Structure</vt:lpstr>
      <vt:lpstr>Grain Graphs Structure</vt:lpstr>
      <vt:lpstr>Grain Graphs Structure</vt:lpstr>
      <vt:lpstr>Grain Graphs Structure</vt:lpstr>
      <vt:lpstr>Grain Graphs Structure</vt:lpstr>
      <vt:lpstr>Grain Graphs Structure</vt:lpstr>
      <vt:lpstr>Grain Graphs Metrics</vt:lpstr>
      <vt:lpstr>Grain Graphs Metrics</vt:lpstr>
      <vt:lpstr>OUTLINE</vt:lpstr>
      <vt:lpstr>Experiments &amp; Evaluation</vt:lpstr>
      <vt:lpstr>Experiments &amp; Evaluation</vt:lpstr>
      <vt:lpstr>Experiments &amp; Evaluation</vt:lpstr>
      <vt:lpstr>Experiments &amp; Evaluation</vt:lpstr>
      <vt:lpstr>Experiments &amp; Evaluation</vt:lpstr>
      <vt:lpstr>OUTLINE</vt:lpstr>
      <vt:lpstr>Conclusions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liushuai</dc:creator>
  <cp:lastModifiedBy>朱君鹏</cp:lastModifiedBy>
  <cp:revision>706</cp:revision>
  <dcterms:created xsi:type="dcterms:W3CDTF">2018-07-12T13:40:09Z</dcterms:created>
  <dcterms:modified xsi:type="dcterms:W3CDTF">2019-06-16T14:44:05Z</dcterms:modified>
</cp:coreProperties>
</file>